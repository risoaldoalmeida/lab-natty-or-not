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1.xml" ContentType="application/vnd.openxmlformats-officedocument.drawingml.chartshape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289" r:id="rId5"/>
    <p:sldId id="286" r:id="rId6"/>
    <p:sldId id="280" r:id="rId7"/>
    <p:sldId id="272" r:id="rId8"/>
    <p:sldId id="281" r:id="rId9"/>
    <p:sldId id="273" r:id="rId10"/>
    <p:sldId id="291" r:id="rId11"/>
    <p:sldId id="264" r:id="rId12"/>
    <p:sldId id="293" r:id="rId13"/>
    <p:sldId id="268" r:id="rId14"/>
    <p:sldId id="296" r:id="rId15"/>
    <p:sldId id="278" r:id="rId16"/>
    <p:sldId id="287" r:id="rId17"/>
    <p:sldId id="298" r:id="rId18"/>
    <p:sldId id="295" r:id="rId19"/>
    <p:sldId id="299" r:id="rId20"/>
    <p:sldId id="300" r:id="rId21"/>
    <p:sldId id="297" r:id="rId22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13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0A2"/>
    <a:srgbClr val="40404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69" autoAdjust="0"/>
    <p:restoredTop sz="94554" autoAdjust="0"/>
  </p:normalViewPr>
  <p:slideViewPr>
    <p:cSldViewPr snapToGrid="0">
      <p:cViewPr varScale="1">
        <p:scale>
          <a:sx n="83" d="100"/>
          <a:sy n="83" d="100"/>
        </p:scale>
        <p:origin x="90" y="23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07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chemeClr val="accent2"/>
            </a:solidFill>
          </c:spPr>
          <c:dPt>
            <c:idx val="0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5B0-4736-9DB1-BF50B16ECF77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5B0-4736-9DB1-BF50B16ECF77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5B0-4736-9DB1-BF50B16ECF77}"/>
              </c:ext>
            </c:extLst>
          </c:dPt>
          <c:dPt>
            <c:idx val="3"/>
            <c:bubble3D val="0"/>
            <c:spPr>
              <a:solidFill>
                <a:schemeClr val="accent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5B0-4736-9DB1-BF50B16ECF77}"/>
              </c:ext>
            </c:extLst>
          </c:dPt>
          <c:cat>
            <c:strRef>
              <c:f>Sheet1!$A$2:$A$5</c:f>
              <c:strCache>
                <c:ptCount val="4"/>
                <c:pt idx="0">
                  <c:v>1º trimestre</c:v>
                </c:pt>
                <c:pt idx="1">
                  <c:v>2º trimestre</c:v>
                </c:pt>
                <c:pt idx="2">
                  <c:v>3º trimestre</c:v>
                </c:pt>
                <c:pt idx="3">
                  <c:v>4º trimestre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39</c:v>
                </c:pt>
                <c:pt idx="1">
                  <c:v>20</c:v>
                </c:pt>
                <c:pt idx="2">
                  <c:v>20</c:v>
                </c:pt>
                <c:pt idx="3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5B0-4736-9DB1-BF50B16ECF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2"/>
        <c:holeSize val="71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lang="en-US" noProof="0"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chemeClr val="accent2"/>
            </a:solidFill>
          </c:spPr>
          <c:dPt>
            <c:idx val="0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75F-4C0A-BBA0-64BAC8E02D84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75F-4C0A-BBA0-64BAC8E02D84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75F-4C0A-BBA0-64BAC8E02D84}"/>
              </c:ext>
            </c:extLst>
          </c:dPt>
          <c:dPt>
            <c:idx val="3"/>
            <c:bubble3D val="0"/>
            <c:spPr>
              <a:solidFill>
                <a:schemeClr val="accent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275F-4C0A-BBA0-64BAC8E02D84}"/>
              </c:ext>
            </c:extLst>
          </c:dPt>
          <c:dPt>
            <c:idx val="4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275F-4C0A-BBA0-64BAC8E02D84}"/>
              </c:ext>
            </c:extLst>
          </c:dPt>
          <c:dPt>
            <c:idx val="5"/>
            <c:bubble3D val="0"/>
            <c:spPr>
              <a:solidFill>
                <a:schemeClr val="accent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275F-4C0A-BBA0-64BAC8E02D84}"/>
              </c:ext>
            </c:extLst>
          </c:dPt>
          <c:dPt>
            <c:idx val="6"/>
            <c:bubble3D val="0"/>
            <c:spPr>
              <a:solidFill>
                <a:schemeClr val="accent1">
                  <a:lumMod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275F-4C0A-BBA0-64BAC8E02D84}"/>
              </c:ext>
            </c:extLst>
          </c:dPt>
          <c:dPt>
            <c:idx val="7"/>
            <c:bubble3D val="0"/>
            <c:spPr>
              <a:solidFill>
                <a:schemeClr val="accent3">
                  <a:lumMod val="25000"/>
                  <a:lumOff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275F-4C0A-BBA0-64BAC8E02D84}"/>
              </c:ext>
            </c:extLst>
          </c:dPt>
          <c:dPt>
            <c:idx val="8"/>
            <c:bubble3D val="0"/>
            <c:spPr>
              <a:solidFill>
                <a:schemeClr val="accent6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275F-4C0A-BBA0-64BAC8E02D84}"/>
              </c:ext>
            </c:extLst>
          </c:dPt>
          <c:cat>
            <c:strRef>
              <c:f>Sheet1!$A$2:$A$10</c:f>
              <c:strCache>
                <c:ptCount val="9"/>
                <c:pt idx="0">
                  <c:v>Mobiliário, equipamentos e instalações</c:v>
                </c:pt>
                <c:pt idx="1">
                  <c:v>MELHORIAS</c:v>
                </c:pt>
                <c:pt idx="2">
                  <c:v>SEGURO PROFISSIONAL_x000b_EMPRESARIAL</c:v>
                </c:pt>
                <c:pt idx="3">
                  <c:v>DEPÓSITO DA CONCESSÃO</c:v>
                </c:pt>
                <c:pt idx="4">
                  <c:v>MARKETING</c:v>
                </c:pt>
                <c:pt idx="5">
                  <c:v>CAPITAL DE GIRO</c:v>
                </c:pt>
                <c:pt idx="6">
                  <c:v>DESENVOLVIMENTO DE SITES</c:v>
                </c:pt>
                <c:pt idx="7">
                  <c:v>CUSTOS DIVERSOS</c:v>
                </c:pt>
                <c:pt idx="8">
                  <c:v>PAGAMENTO INICIAL DE ARRENDAMENTO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24</c:v>
                </c:pt>
                <c:pt idx="1">
                  <c:v>20</c:v>
                </c:pt>
                <c:pt idx="2">
                  <c:v>2</c:v>
                </c:pt>
                <c:pt idx="3">
                  <c:v>21</c:v>
                </c:pt>
                <c:pt idx="4">
                  <c:v>4</c:v>
                </c:pt>
                <c:pt idx="5">
                  <c:v>28</c:v>
                </c:pt>
                <c:pt idx="6">
                  <c:v>2</c:v>
                </c:pt>
                <c:pt idx="7">
                  <c:v>8</c:v>
                </c:pt>
                <c:pt idx="8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275F-4C0A-BBA0-64BAC8E02D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1"/>
        <c:holeSize val="71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11"/>
        <c:holeSize val="71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image" Target="../media/image14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0.29037</cdr:x>
      <cdr:y>0.12319</cdr:y>
    </cdr:from>
    <cdr:to>
      <cdr:x>0.70447</cdr:x>
      <cdr:y>0.80879</cdr:y>
    </cdr:to>
    <cdr:pic>
      <cdr:nvPicPr>
        <cdr:cNvPr id="3" name="Gráfico 2" descr="Fechar com preenchimento sólido">
          <a:extLst xmlns:a="http://schemas.openxmlformats.org/drawingml/2006/main">
            <a:ext uri="{FF2B5EF4-FFF2-40B4-BE49-F238E27FC236}">
              <a16:creationId xmlns:a16="http://schemas.microsoft.com/office/drawing/2014/main" id="{21EB0EBD-D818-4D64-9071-FC6F5879D3DA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>
          <a:extLst>
            <a:ext uri="{28A0092B-C50C-407E-A947-70E740481C1C}">
              <a14:useLocalDpi xmlns:a14="http://schemas.microsoft.com/office/drawing/2010/main" val="0"/>
            </a:ext>
            <a:ext uri="{96DAC541-7B7A-43D3-8B79-37D633B846F1}">
              <asvg:svgBlip xmlns:asvg="http://schemas.microsoft.com/office/drawing/2016/SVG/main" r:embed="rId2"/>
            </a:ext>
          </a:extLst>
        </a:blip>
        <a:stretch xmlns:a="http://schemas.openxmlformats.org/drawingml/2006/main">
          <a:fillRect/>
        </a:stretch>
      </cdr:blipFill>
      <cdr:spPr>
        <a:xfrm xmlns:a="http://schemas.openxmlformats.org/drawingml/2006/main">
          <a:off x="2076647" y="532119"/>
          <a:ext cx="2961500" cy="2961500"/>
        </a:xfrm>
        <a:prstGeom xmlns:a="http://schemas.openxmlformats.org/drawingml/2006/main" prst="rect">
          <a:avLst/>
        </a:prstGeom>
      </cdr:spPr>
    </cdr:pic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B3D6640C-F6A0-4351-856B-14836F234E6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C280B7B-2795-4857-B84E-9C600536AE0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4BADFD9-ADFC-4D1F-ACF9-03B85E66582A}" type="datetime1">
              <a:rPr lang="pt-BR" smtClean="0"/>
              <a:t>27/10/2025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6C3ACD6-6E00-4BE1-A684-34A6BD202E3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BA7F20A5-CEF2-4B11-A0A4-0F4BC0BD647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C822411-A9A9-4A09-A341-69C657AB42A1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558888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6E70B0D-B36C-4FFA-A4C4-B61DAF3931A7}" type="datetime1">
              <a:rPr lang="pt-BR" smtClean="0"/>
              <a:t>27/10/2025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 dirty="0"/>
              <a:t>Clique para editar o texto Mestre</a:t>
            </a:r>
            <a:endParaRPr lang="pt-BR" dirty="0"/>
          </a:p>
          <a:p>
            <a:pPr lvl="1" rtl="0"/>
            <a:r>
              <a:rPr lang="pt-BR" dirty="0"/>
              <a:t>Segundo nível</a:t>
            </a:r>
          </a:p>
          <a:p>
            <a:pPr lvl="2" rtl="0"/>
            <a:r>
              <a:rPr lang="pt-BR" dirty="0"/>
              <a:t>Terceiro nível</a:t>
            </a:r>
          </a:p>
          <a:p>
            <a:pPr lvl="3" rtl="0"/>
            <a:r>
              <a:rPr lang="pt-BR" dirty="0"/>
              <a:t>Quarto nível</a:t>
            </a:r>
          </a:p>
          <a:p>
            <a:pPr lvl="4" rtl="0"/>
            <a:r>
              <a:rPr lang="pt-BR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A004F4-F240-48F9-8AE1-486585C7F00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5488101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9CA004F4-F240-48F9-8AE1-486585C7F00D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40170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9CA004F4-F240-48F9-8AE1-486585C7F00D}" type="slidenum">
              <a:rPr lang="pt-BR" smtClean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2849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9CA004F4-F240-48F9-8AE1-486585C7F00D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628687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9CA004F4-F240-48F9-8AE1-486585C7F00D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684856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9CA004F4-F240-48F9-8AE1-486585C7F00D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619396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9CA004F4-F240-48F9-8AE1-486585C7F00D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441929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9CA004F4-F240-48F9-8AE1-486585C7F00D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895613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9CA004F4-F240-48F9-8AE1-486585C7F00D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526456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9CA004F4-F240-48F9-8AE1-486585C7F00D}" type="slidenum">
              <a:rPr lang="pt-BR" smtClean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74810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9CA004F4-F240-48F9-8AE1-486585C7F00D}" type="slidenum">
              <a:rPr lang="pt-BR" smtClean="0"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279800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9CA004F4-F240-48F9-8AE1-486585C7F00D}" type="slidenum">
              <a:rPr lang="pt-BR" smtClean="0"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994776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9CA004F4-F240-48F9-8AE1-486585C7F00D}" type="slidenum">
              <a:rPr lang="pt-BR" smtClean="0"/>
              <a:t>12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896999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9CA004F4-F240-48F9-8AE1-486585C7F00D}" type="slidenum">
              <a:rPr lang="pt-BR" smtClean="0"/>
              <a:t>13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212932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9CA004F4-F240-48F9-8AE1-486585C7F00D}" type="slidenum">
              <a:rPr lang="pt-BR" smtClean="0"/>
              <a:t>14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32636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9CA004F4-F240-48F9-8AE1-486585C7F00D}" type="slidenum">
              <a:rPr lang="pt-BR" smtClean="0"/>
              <a:t>15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242243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9CA004F4-F240-48F9-8AE1-486585C7F00D}" type="slidenum">
              <a:rPr lang="pt-BR" smtClean="0"/>
              <a:t>16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927864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9CA004F4-F240-48F9-8AE1-486585C7F00D}" type="slidenum">
              <a:rPr lang="pt-BR" smtClean="0"/>
              <a:t>17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269718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9CA004F4-F240-48F9-8AE1-486585C7F00D}" type="slidenum">
              <a:rPr lang="pt-BR" smtClean="0"/>
              <a:t>18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44023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97D165-49B0-44FF-A267-367F5A6EE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39514"/>
            <a:ext cx="9144000" cy="2128049"/>
          </a:xfrm>
        </p:spPr>
        <p:txBody>
          <a:bodyPr rtlCol="0" anchor="b"/>
          <a:lstStyle>
            <a:lvl1pPr algn="ctr">
              <a:lnSpc>
                <a:spcPct val="125000"/>
              </a:lnSpc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B52800-74D6-4A78-AC9B-8E737A1A3B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1162"/>
            <a:ext cx="9144000" cy="882001"/>
          </a:xfrm>
          <a:solidFill>
            <a:schemeClr val="accent2">
              <a:alpha val="9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500" b="1" i="1" kern="1200" spc="65" dirty="0">
                <a:solidFill>
                  <a:schemeClr val="accent1"/>
                </a:solidFill>
                <a:latin typeface="Arial"/>
                <a:ea typeface="+mn-ea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do subtítulo Mestre</a:t>
            </a:r>
            <a:endParaRPr lang="pt-BR" noProof="0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B91F7B-C4AF-4FC6-A6BE-657DEF6D5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EB45BDF-D856-47E7-A63A-8AC52558E68A}" type="datetime1">
              <a:rPr lang="pt-BR" noProof="0" smtClean="0"/>
              <a:t>27/10/2025</a:t>
            </a:fld>
            <a:endParaRPr lang="pt-BR" noProof="0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ED32F8-B0C7-4332-B0A5-BC19DD8C4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B0030946-D0C7-4F78-94B0-427DAA6D5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189509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211141-A77D-4E0E-8CAF-4CD3B2799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7EFDE0-5A54-402A-B0C3-6BC0BB739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A2825AD-4585-4E37-A076-3D0070C93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76F3183-CA2F-4908-8167-7738ADB29E4B}" type="datetime1">
              <a:rPr lang="pt-BR" noProof="0" smtClean="0"/>
              <a:t>27/10/2025</a:t>
            </a:fld>
            <a:endParaRPr lang="pt-BR" noProof="0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2064AD-EDC3-4B13-8CD6-49EB60099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7890FD1E-16F6-49B1-A938-8CE601ED7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325465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9FA988-92AD-48D7-890A-AA0540961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rtlCol="0" anchor="b"/>
          <a:lstStyle>
            <a:lvl1pPr>
              <a:defRPr sz="6000"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AA999FA-A189-41DB-9CFC-D1356C534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4D83DC-20E7-4B71-9794-36FC33B1B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919345D-3C38-422F-B900-6D7E2F09E79B}" type="datetime1">
              <a:rPr lang="pt-BR" noProof="0" smtClean="0"/>
              <a:t>27/10/2025</a:t>
            </a:fld>
            <a:endParaRPr lang="pt-BR" noProof="0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E7D103-1290-4592-B37C-19C9C9DBE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15955B1B-4A5C-42C7-99A5-B8217736F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933201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4E60EB58-EF7E-435A-8B07-B5BCF3AF1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pt-BR" noProof="0" smtClean="0"/>
              <a:t>‹nº›</a:t>
            </a:fld>
            <a:endParaRPr lang="pt-BR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7F76098-6FA1-470A-BEF4-E4B0AC75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647ABC-6745-43B6-8A64-6E191BD65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4387105-2538-4216-9A7E-445FA092F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7F57DE0-C032-4FCC-9006-09C2C328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7D7FFA2-4599-48FA-BE81-2868299844D8}" type="datetime1">
              <a:rPr lang="pt-BR" noProof="0" smtClean="0"/>
              <a:t>27/10/2025</a:t>
            </a:fld>
            <a:endParaRPr lang="pt-BR" noProof="0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0C776CB-2819-4488-9012-A6EA22079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325036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F43C73-1D0F-45F9-A7E4-E9D24EAFD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3B88E76-F6AB-4621-A9A6-20A81C5A3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A313FB9-6D6C-4F61-9E7A-76E686D06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A93A737-E48B-4909-BE04-F55B581032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8F9958C-DB5F-444E-ACE8-73F5E0CA67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1D097D1-3052-4C1F-B573-CA25FFF6C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28A402C-5FED-4AC2-93F5-32653B4DFF68}" type="datetime1">
              <a:rPr lang="pt-BR" noProof="0" smtClean="0"/>
              <a:t>27/10/2025</a:t>
            </a:fld>
            <a:endParaRPr lang="pt-BR" noProof="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2607AC3-2220-4DDA-A22A-C404538FE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6FD8DEB3-F122-4B42-9E12-F61189B8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032769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789EF5-3FD9-4423-A9E8-B67B4E902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30D7191-31B4-440E-A4E9-F412FA558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FD38989-85BC-45B2-B5BC-96AE400C3CFC}" type="datetime1">
              <a:rPr lang="pt-BR" noProof="0" smtClean="0"/>
              <a:t>27/10/2025</a:t>
            </a:fld>
            <a:endParaRPr lang="pt-BR" noProof="0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EC85CB6-0880-4BF0-8E98-291E70C71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BE4A5E74-F26F-4C7A-BED1-6EE66C0B3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691903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655C546-684A-45B9-8890-66DC55DF7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A7AF801-ED23-49AE-9833-44D7BEC6B7B6}" type="datetime1">
              <a:rPr lang="pt-BR" noProof="0" smtClean="0"/>
              <a:t>27/10/2025</a:t>
            </a:fld>
            <a:endParaRPr lang="pt-BR" noProof="0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543EBDF-D696-42F7-B962-56F5FEE12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6789D77E-1675-4F9D-9113-B274CB0E8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74602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8E9C90-06AB-49B5-9970-F5791DE93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FB0071-932D-4CA0-92FB-A6E75AC85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1C8D9F5-8B70-4BDD-9CB5-BBF87CF55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989DE91-7A80-4682-9D32-2CD41DEFB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0F991AB-F5A5-4B8A-982C-9827D6732C2C}" type="datetime1">
              <a:rPr lang="pt-BR" noProof="0" smtClean="0"/>
              <a:t>27/10/2025</a:t>
            </a:fld>
            <a:endParaRPr lang="pt-BR" noProof="0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B9E2482-2E7D-4868-95A7-4A55B40FE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1F4E84CF-C3E5-4475-84C7-21CBAC06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962625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90E0AA-5363-4861-AB6B-0E4D34D7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D44B7CE-2038-4CCA-AA8A-D03DE5FD9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A79774D-36EB-4201-B1AC-922DD2E06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AD1E234-1CB2-41A0-B40D-7E7F160CB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404A3A3-F726-4C2F-B2CF-49E1EBC1D49D}" type="datetime1">
              <a:rPr lang="pt-BR" noProof="0" smtClean="0"/>
              <a:t>27/10/2025</a:t>
            </a:fld>
            <a:endParaRPr lang="pt-BR" noProof="0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9FD472E-6334-4051-B4D9-6361A819F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192384B9-6290-4070-B7D1-A105B27F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367443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ois Conteúdos Horizont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to 2">
            <a:extLst>
              <a:ext uri="{FF2B5EF4-FFF2-40B4-BE49-F238E27FC236}">
                <a16:creationId xmlns:a16="http://schemas.microsoft.com/office/drawing/2014/main" id="{E4FD2CFF-0F3D-42BB-BBFF-903727B32640}"/>
              </a:ext>
            </a:extLst>
          </p:cNvPr>
          <p:cNvSpPr/>
          <p:nvPr userDrawn="1"/>
        </p:nvSpPr>
        <p:spPr>
          <a:xfrm>
            <a:off x="0" y="1562188"/>
            <a:ext cx="11269980" cy="2359660"/>
          </a:xfrm>
          <a:custGeom>
            <a:avLst/>
            <a:gdLst/>
            <a:ahLst/>
            <a:cxnLst/>
            <a:rect l="l" t="t" r="r" b="b"/>
            <a:pathLst>
              <a:path w="11269980" h="2359660">
                <a:moveTo>
                  <a:pt x="0" y="2359152"/>
                </a:moveTo>
                <a:lnTo>
                  <a:pt x="11269980" y="2359152"/>
                </a:lnTo>
                <a:lnTo>
                  <a:pt x="11269980" y="0"/>
                </a:lnTo>
                <a:lnTo>
                  <a:pt x="0" y="0"/>
                </a:lnTo>
                <a:lnTo>
                  <a:pt x="0" y="2359152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pPr rtl="0"/>
            <a:endParaRPr lang="pt-BR" noProof="0" dirty="0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4E60EB58-EF7E-435A-8B07-B5BCF3AF1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pt-BR" noProof="0" smtClean="0"/>
              <a:t>‹nº›</a:t>
            </a:fld>
            <a:endParaRPr lang="pt-BR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7F76098-6FA1-470A-BEF4-E4B0AC75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647ABC-6745-43B6-8A64-6E191BD65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4133087"/>
            <a:ext cx="10431780" cy="2043875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7F57DE0-C032-4FCC-9006-09C2C328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28D3A58-EF94-4420-B7D0-6407178E8552}" type="datetime1">
              <a:rPr lang="pt-BR" noProof="0" smtClean="0"/>
              <a:t>27/10/2025</a:t>
            </a:fld>
            <a:endParaRPr lang="pt-BR" noProof="0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0C776CB-2819-4488-9012-A6EA22079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9" name="Espaço Reservado para Conteúdo 3">
            <a:extLst>
              <a:ext uri="{FF2B5EF4-FFF2-40B4-BE49-F238E27FC236}">
                <a16:creationId xmlns:a16="http://schemas.microsoft.com/office/drawing/2014/main" id="{C1B0D46C-2987-401A-A0C4-CFB6F73E9D2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44296" y="1788579"/>
            <a:ext cx="10425684" cy="1906878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838197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ns com Legend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D44B7CE-2038-4CCA-AA8A-D03DE5FD9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7999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8AB8B54-69CD-4C57-8DBB-02A0E09851DD}"/>
              </a:ext>
            </a:extLst>
          </p:cNvPr>
          <p:cNvSpPr/>
          <p:nvPr userDrawn="1"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690E0AA-5363-4861-AB6B-0E4D34D7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17362"/>
            <a:ext cx="3932237" cy="1302111"/>
          </a:xfrm>
        </p:spPr>
        <p:txBody>
          <a:bodyPr rtlCol="0" anchor="t" anchorCtr="0"/>
          <a:lstStyle>
            <a:lvl1pPr>
              <a:defRPr sz="3200"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A79774D-36EB-4201-B1AC-922DD2E06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2419" y="1887801"/>
            <a:ext cx="4057961" cy="1431234"/>
          </a:xfrm>
        </p:spPr>
        <p:txBody>
          <a:bodyPr rtlCol="0">
            <a:normAutofit/>
          </a:bodyPr>
          <a:lstStyle>
            <a:lvl1pPr marL="0" indent="0">
              <a:buNone/>
              <a:defRPr sz="2000"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AD1E234-1CB2-41A0-B40D-7E7F160CB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18D3B7B-998F-4BA7-B4CD-B4711ACAA7F8}" type="datetime1">
              <a:rPr lang="pt-BR" noProof="0" smtClean="0"/>
              <a:t>27/10/2025</a:t>
            </a:fld>
            <a:endParaRPr lang="pt-BR" noProof="0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9FD472E-6334-4051-B4D9-6361A819F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192384B9-6290-4070-B7D1-A105B27F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pt-BR" noProof="0" smtClean="0"/>
              <a:t>‹nº›</a:t>
            </a:fld>
            <a:endParaRPr lang="pt-BR" noProof="0" dirty="0"/>
          </a:p>
        </p:txBody>
      </p:sp>
      <p:sp>
        <p:nvSpPr>
          <p:cNvPr id="12" name="Espaço Reservado para Imagem 28">
            <a:extLst>
              <a:ext uri="{FF2B5EF4-FFF2-40B4-BE49-F238E27FC236}">
                <a16:creationId xmlns:a16="http://schemas.microsoft.com/office/drawing/2014/main" id="{2EB2F967-97B6-4CA8-B3E7-5FF7CA2BDD8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44273" y="1883115"/>
            <a:ext cx="576000" cy="576000"/>
          </a:xfrm>
        </p:spPr>
        <p:txBody>
          <a:bodyPr rtlCol="0">
            <a:normAutofit/>
          </a:bodyPr>
          <a:lstStyle>
            <a:lvl1pPr marL="0" indent="0" algn="ctr">
              <a:buNone/>
              <a:defRPr sz="400"/>
            </a:lvl1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13" name="Espaço Reservado para Imagem 28">
            <a:extLst>
              <a:ext uri="{FF2B5EF4-FFF2-40B4-BE49-F238E27FC236}">
                <a16:creationId xmlns:a16="http://schemas.microsoft.com/office/drawing/2014/main" id="{5E78E133-FE09-456A-8463-9EFAC6ADE26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44273" y="3573118"/>
            <a:ext cx="576000" cy="576000"/>
          </a:xfrm>
        </p:spPr>
        <p:txBody>
          <a:bodyPr rtlCol="0">
            <a:normAutofit/>
          </a:bodyPr>
          <a:lstStyle>
            <a:lvl1pPr marL="0" indent="0" algn="ctr">
              <a:buNone/>
              <a:defRPr sz="400"/>
            </a:lvl1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14" name="Espaço reservado para texto 3">
            <a:extLst>
              <a:ext uri="{FF2B5EF4-FFF2-40B4-BE49-F238E27FC236}">
                <a16:creationId xmlns:a16="http://schemas.microsoft.com/office/drawing/2014/main" id="{7F0C3496-EA4B-43E5-9704-968F80A8552C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1552418" y="3575461"/>
            <a:ext cx="4057961" cy="1431234"/>
          </a:xfrm>
        </p:spPr>
        <p:txBody>
          <a:bodyPr rtlCol="0">
            <a:normAutofit/>
          </a:bodyPr>
          <a:lstStyle>
            <a:lvl1pPr marL="0" indent="0">
              <a:buNone/>
              <a:defRPr sz="2000"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15" name="Espaço Reservado para Imagem 28">
            <a:extLst>
              <a:ext uri="{FF2B5EF4-FFF2-40B4-BE49-F238E27FC236}">
                <a16:creationId xmlns:a16="http://schemas.microsoft.com/office/drawing/2014/main" id="{13414E14-9FEB-40F8-AE6E-319637A8F1C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44273" y="5263121"/>
            <a:ext cx="576000" cy="576000"/>
          </a:xfrm>
        </p:spPr>
        <p:txBody>
          <a:bodyPr rtlCol="0">
            <a:normAutofit/>
          </a:bodyPr>
          <a:lstStyle>
            <a:lvl1pPr marL="0" indent="0" algn="ctr">
              <a:buNone/>
              <a:defRPr sz="400"/>
            </a:lvl1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16" name="Espaço reservado para texto 3">
            <a:extLst>
              <a:ext uri="{FF2B5EF4-FFF2-40B4-BE49-F238E27FC236}">
                <a16:creationId xmlns:a16="http://schemas.microsoft.com/office/drawing/2014/main" id="{8EC97C88-8B4C-4665-845B-95CE8F237779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1552418" y="5263122"/>
            <a:ext cx="4057961" cy="775728"/>
          </a:xfrm>
        </p:spPr>
        <p:txBody>
          <a:bodyPr rtlCol="0">
            <a:normAutofit/>
          </a:bodyPr>
          <a:lstStyle>
            <a:lvl1pPr marL="0" indent="0">
              <a:buNone/>
              <a:defRPr sz="2000"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6480610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ação com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ço Reservado para Imagem 12">
            <a:extLst>
              <a:ext uri="{FF2B5EF4-FFF2-40B4-BE49-F238E27FC236}">
                <a16:creationId xmlns:a16="http://schemas.microsoft.com/office/drawing/2014/main" id="{B74348DE-EC54-4C62-948C-0B2BF90455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115389"/>
            <a:ext cx="12188825" cy="3742611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10" name="objeto 3">
            <a:extLst>
              <a:ext uri="{FF2B5EF4-FFF2-40B4-BE49-F238E27FC236}">
                <a16:creationId xmlns:a16="http://schemas.microsoft.com/office/drawing/2014/main" id="{2A53E879-94A1-4659-9069-ED0D6F03014D}"/>
              </a:ext>
            </a:extLst>
          </p:cNvPr>
          <p:cNvSpPr/>
          <p:nvPr userDrawn="1"/>
        </p:nvSpPr>
        <p:spPr>
          <a:xfrm>
            <a:off x="2400" y="1999821"/>
            <a:ext cx="12189600" cy="1115568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pPr rtl="0"/>
            <a:endParaRPr lang="pt-BR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EF43C73-1D0F-45F9-A7E4-E9D24EAFD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3B88E76-F6AB-4621-A9A6-20A81C5A3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859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A313FB9-6D6C-4F61-9E7A-76E686D06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434047"/>
            <a:ext cx="5157787" cy="2755616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A93A737-E48B-4909-BE04-F55B581032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859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8F9958C-DB5F-444E-ACE8-73F5E0CA67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434047"/>
            <a:ext cx="5183188" cy="2755616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1D097D1-3052-4C1F-B573-CA25FFF6C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BCDAFB-C0C6-4072-B31B-6CC680D828C2}" type="datetime1">
              <a:rPr lang="pt-BR" noProof="0" smtClean="0"/>
              <a:t>27/10/2025</a:t>
            </a:fld>
            <a:endParaRPr lang="pt-BR" noProof="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2607AC3-2220-4DDA-A22A-C404538FE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6FD8DEB3-F122-4B42-9E12-F61189B8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0305760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rê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4E60EB58-EF7E-435A-8B07-B5BCF3AF1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pt-BR" noProof="0" smtClean="0"/>
              <a:t>‹nº›</a:t>
            </a:fld>
            <a:endParaRPr lang="pt-BR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7F76098-6FA1-470A-BEF4-E4B0AC75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7F57DE0-C032-4FCC-9006-09C2C328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27D5CD6-AB20-498E-A86E-1F0A5105F6ED}" type="datetime1">
              <a:rPr lang="pt-BR" noProof="0" smtClean="0"/>
              <a:t>27/10/2025</a:t>
            </a:fld>
            <a:endParaRPr lang="pt-BR" noProof="0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0C776CB-2819-4488-9012-A6EA22079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2" name="Espaço Reservado para Imagem 11">
            <a:extLst>
              <a:ext uri="{FF2B5EF4-FFF2-40B4-BE49-F238E27FC236}">
                <a16:creationId xmlns:a16="http://schemas.microsoft.com/office/drawing/2014/main" id="{B15EEB49-54F4-404C-9B31-AD488BFCB2E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72412" y="2219248"/>
            <a:ext cx="2414016" cy="2414016"/>
          </a:xfrm>
          <a:prstGeom prst="ellipse">
            <a:avLst/>
          </a:prstGeom>
          <a:noFill/>
          <a:ln w="387350">
            <a:noFill/>
          </a:ln>
        </p:spPr>
        <p:txBody>
          <a:bodyPr rtlCol="0"/>
          <a:lstStyle/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17" name="Espaço Reservado para Imagem 11">
            <a:extLst>
              <a:ext uri="{FF2B5EF4-FFF2-40B4-BE49-F238E27FC236}">
                <a16:creationId xmlns:a16="http://schemas.microsoft.com/office/drawing/2014/main" id="{6B2DD458-866A-421E-9AD0-B0D9E119572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05572" y="2196083"/>
            <a:ext cx="2414016" cy="2414016"/>
          </a:xfrm>
          <a:prstGeom prst="ellipse">
            <a:avLst/>
          </a:prstGeom>
          <a:noFill/>
          <a:ln w="387350">
            <a:noFill/>
          </a:ln>
        </p:spPr>
        <p:txBody>
          <a:bodyPr rtlCol="0"/>
          <a:lstStyle/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14" name="Espaço Reservado para Imagem 11">
            <a:extLst>
              <a:ext uri="{FF2B5EF4-FFF2-40B4-BE49-F238E27FC236}">
                <a16:creationId xmlns:a16="http://schemas.microsoft.com/office/drawing/2014/main" id="{57A4D097-9603-42DC-888D-8039CE6ADC9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87240" y="2019165"/>
            <a:ext cx="3017520" cy="3017520"/>
          </a:xfrm>
          <a:prstGeom prst="ellipse">
            <a:avLst/>
          </a:prstGeom>
          <a:noFill/>
        </p:spPr>
        <p:txBody>
          <a:bodyPr rtlCol="0"/>
          <a:lstStyle/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25" name="Espaço Reservado para Texto 23">
            <a:extLst>
              <a:ext uri="{FF2B5EF4-FFF2-40B4-BE49-F238E27FC236}">
                <a16:creationId xmlns:a16="http://schemas.microsoft.com/office/drawing/2014/main" id="{B9B9E0BA-35AD-4D69-9A03-35F2509C2C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612900" y="5033963"/>
            <a:ext cx="2700338" cy="7381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26" name="Espaço Reservado para Texto 23">
            <a:extLst>
              <a:ext uri="{FF2B5EF4-FFF2-40B4-BE49-F238E27FC236}">
                <a16:creationId xmlns:a16="http://schemas.microsoft.com/office/drawing/2014/main" id="{B1CC61B3-695C-423D-8F0B-45674DC932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745831" y="5236700"/>
            <a:ext cx="2700338" cy="7381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27" name="Espaço Reservado para Texto 23">
            <a:extLst>
              <a:ext uri="{FF2B5EF4-FFF2-40B4-BE49-F238E27FC236}">
                <a16:creationId xmlns:a16="http://schemas.microsoft.com/office/drawing/2014/main" id="{B870F23E-35A1-4942-A685-641AA883066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878762" y="5033963"/>
            <a:ext cx="2700338" cy="7381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29" name="Espaço Reservado para Imagem 28">
            <a:extLst>
              <a:ext uri="{FF2B5EF4-FFF2-40B4-BE49-F238E27FC236}">
                <a16:creationId xmlns:a16="http://schemas.microsoft.com/office/drawing/2014/main" id="{863B8202-88BB-4ED4-B936-9D9C0B4C8D1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6332808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m com três seçõ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to 3">
            <a:extLst>
              <a:ext uri="{FF2B5EF4-FFF2-40B4-BE49-F238E27FC236}">
                <a16:creationId xmlns:a16="http://schemas.microsoft.com/office/drawing/2014/main" id="{29F16048-FF4E-41B1-B3D4-0FB210A70DF2}"/>
              </a:ext>
            </a:extLst>
          </p:cNvPr>
          <p:cNvSpPr/>
          <p:nvPr userDrawn="1"/>
        </p:nvSpPr>
        <p:spPr>
          <a:xfrm>
            <a:off x="5294630" y="0"/>
            <a:ext cx="6897370" cy="6858000"/>
          </a:xfrm>
          <a:custGeom>
            <a:avLst/>
            <a:gdLst/>
            <a:ahLst/>
            <a:cxnLst/>
            <a:rect l="l" t="t" r="r" b="b"/>
            <a:pathLst>
              <a:path w="6897370" h="6858000">
                <a:moveTo>
                  <a:pt x="0" y="6858000"/>
                </a:moveTo>
                <a:lnTo>
                  <a:pt x="6896900" y="6858000"/>
                </a:lnTo>
                <a:lnTo>
                  <a:pt x="68969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pPr rtl="0"/>
            <a:endParaRPr lang="pt-BR" noProof="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8AB8B54-69CD-4C57-8DBB-02A0E09851DD}"/>
              </a:ext>
            </a:extLst>
          </p:cNvPr>
          <p:cNvSpPr/>
          <p:nvPr userDrawn="1"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690E0AA-5363-4861-AB6B-0E4D34D7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17362"/>
            <a:ext cx="3932237" cy="1302111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A79774D-36EB-4201-B1AC-922DD2E06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94251" y="1192697"/>
            <a:ext cx="4057961" cy="1431234"/>
          </a:xfrm>
        </p:spPr>
        <p:txBody>
          <a:bodyPr rtlCol="0"/>
          <a:lstStyle>
            <a:lvl1pPr marL="0" indent="0">
              <a:buNone/>
              <a:defRPr sz="16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AD1E234-1CB2-41A0-B40D-7E7F160CB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53E6A2A-0C22-44F6-B2CF-5FADABC1F2D4}" type="datetime1">
              <a:rPr lang="pt-BR" noProof="0" smtClean="0"/>
              <a:t>27/10/2025</a:t>
            </a:fld>
            <a:endParaRPr lang="pt-BR" noProof="0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9FD472E-6334-4051-B4D9-6361A819F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192384B9-6290-4070-B7D1-A105B27F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pt-BR" noProof="0" smtClean="0"/>
              <a:t>‹nº›</a:t>
            </a:fld>
            <a:endParaRPr lang="pt-BR" noProof="0" dirty="0"/>
          </a:p>
        </p:txBody>
      </p:sp>
      <p:sp>
        <p:nvSpPr>
          <p:cNvPr id="9" name="objeto 2">
            <a:extLst>
              <a:ext uri="{FF2B5EF4-FFF2-40B4-BE49-F238E27FC236}">
                <a16:creationId xmlns:a16="http://schemas.microsoft.com/office/drawing/2014/main" id="{9337951D-6DB6-4713-9200-E8513CDEB6B3}"/>
              </a:ext>
            </a:extLst>
          </p:cNvPr>
          <p:cNvSpPr/>
          <p:nvPr userDrawn="1"/>
        </p:nvSpPr>
        <p:spPr>
          <a:xfrm>
            <a:off x="0" y="2430411"/>
            <a:ext cx="3625850" cy="3438525"/>
          </a:xfrm>
          <a:custGeom>
            <a:avLst/>
            <a:gdLst/>
            <a:ahLst/>
            <a:cxnLst/>
            <a:rect l="l" t="t" r="r" b="b"/>
            <a:pathLst>
              <a:path w="3625850" h="3438525">
                <a:moveTo>
                  <a:pt x="0" y="3438486"/>
                </a:moveTo>
                <a:lnTo>
                  <a:pt x="3625596" y="3438486"/>
                </a:lnTo>
                <a:lnTo>
                  <a:pt x="3625596" y="0"/>
                </a:lnTo>
                <a:lnTo>
                  <a:pt x="0" y="0"/>
                </a:lnTo>
                <a:lnTo>
                  <a:pt x="0" y="343848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pPr rtl="0"/>
            <a:endParaRPr lang="pt-BR" noProof="0" dirty="0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D44B7CE-2038-4CCA-AA8A-D03DE5FD9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2781223"/>
            <a:ext cx="6040800" cy="2736901"/>
          </a:xfrm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12" name="Espaço Reservado para Imagem 28">
            <a:extLst>
              <a:ext uri="{FF2B5EF4-FFF2-40B4-BE49-F238E27FC236}">
                <a16:creationId xmlns:a16="http://schemas.microsoft.com/office/drawing/2014/main" id="{2EB2F967-97B6-4CA8-B3E7-5FF7CA2BDD8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86106" y="1188012"/>
            <a:ext cx="376237" cy="376237"/>
          </a:xfrm>
        </p:spPr>
        <p:txBody>
          <a:bodyPr rtlCol="0">
            <a:normAutofit/>
          </a:bodyPr>
          <a:lstStyle>
            <a:lvl1pPr marL="0" indent="0" algn="ctr">
              <a:buNone/>
              <a:defRPr sz="400"/>
            </a:lvl1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13" name="Espaço Reservado para Imagem 28">
            <a:extLst>
              <a:ext uri="{FF2B5EF4-FFF2-40B4-BE49-F238E27FC236}">
                <a16:creationId xmlns:a16="http://schemas.microsoft.com/office/drawing/2014/main" id="{5E78E133-FE09-456A-8463-9EFAC6ADE26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586106" y="2878015"/>
            <a:ext cx="376237" cy="376237"/>
          </a:xfrm>
        </p:spPr>
        <p:txBody>
          <a:bodyPr rtlCol="0">
            <a:normAutofit/>
          </a:bodyPr>
          <a:lstStyle>
            <a:lvl1pPr marL="0" indent="0" algn="ctr">
              <a:buNone/>
              <a:defRPr sz="400"/>
            </a:lvl1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14" name="Espaço reservado para texto 3">
            <a:extLst>
              <a:ext uri="{FF2B5EF4-FFF2-40B4-BE49-F238E27FC236}">
                <a16:creationId xmlns:a16="http://schemas.microsoft.com/office/drawing/2014/main" id="{7F0C3496-EA4B-43E5-9704-968F80A8552C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7294250" y="2880357"/>
            <a:ext cx="4057961" cy="1431234"/>
          </a:xfrm>
        </p:spPr>
        <p:txBody>
          <a:bodyPr rtlCol="0"/>
          <a:lstStyle>
            <a:lvl1pPr marL="0" indent="0">
              <a:buNone/>
              <a:defRPr sz="16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15" name="Espaço Reservado para Imagem 28">
            <a:extLst>
              <a:ext uri="{FF2B5EF4-FFF2-40B4-BE49-F238E27FC236}">
                <a16:creationId xmlns:a16="http://schemas.microsoft.com/office/drawing/2014/main" id="{13414E14-9FEB-40F8-AE6E-319637A8F1C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586106" y="4568018"/>
            <a:ext cx="376237" cy="376237"/>
          </a:xfrm>
        </p:spPr>
        <p:txBody>
          <a:bodyPr rtlCol="0">
            <a:normAutofit/>
          </a:bodyPr>
          <a:lstStyle>
            <a:lvl1pPr marL="0" indent="0" algn="ctr">
              <a:buNone/>
              <a:defRPr sz="400"/>
            </a:lvl1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16" name="Espaço reservado para texto 3">
            <a:extLst>
              <a:ext uri="{FF2B5EF4-FFF2-40B4-BE49-F238E27FC236}">
                <a16:creationId xmlns:a16="http://schemas.microsoft.com/office/drawing/2014/main" id="{8EC97C88-8B4C-4665-845B-95CE8F237779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7294250" y="4568018"/>
            <a:ext cx="4057961" cy="1431234"/>
          </a:xfrm>
        </p:spPr>
        <p:txBody>
          <a:bodyPr rtlCol="0"/>
          <a:lstStyle>
            <a:lvl1pPr marL="0" indent="0">
              <a:buNone/>
              <a:defRPr sz="16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3856490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9CEC732-0DE2-456B-92A1-84321C9BD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0" dirty="0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A816A5B-B156-4DC3-B18E-14F3E59A6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DB0252E-67CD-4B33-849F-7B1449CF27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17490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A7CC061C-B327-42CC-A2C4-8DB360DFB763}" type="datetime1">
              <a:rPr lang="pt-BR" noProof="0" smtClean="0"/>
              <a:t>27/10/2025</a:t>
            </a:fld>
            <a:endParaRPr lang="pt-BR" noProof="0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C620AD2-E3F8-48CB-8B72-B0945DF534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7490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A5F3BCF-F6FD-4DFF-B0B4-9892C9389344}"/>
              </a:ext>
            </a:extLst>
          </p:cNvPr>
          <p:cNvSpPr/>
          <p:nvPr userDrawn="1"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D15DEFFD-817B-43EC-86F0-34DEA2BA5E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3346" y="6174902"/>
            <a:ext cx="357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i="1">
                <a:solidFill>
                  <a:schemeClr val="tx2">
                    <a:alpha val="70000"/>
                  </a:schemeClr>
                </a:solidFill>
              </a:defRPr>
            </a:lvl1pPr>
          </a:lstStyle>
          <a:p>
            <a:pPr rtl="0"/>
            <a:fld id="{82EE24B5-652C-4DB5-B7C3-B5BBEC1280B1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664101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jp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to 2" descr="Retângulo azul">
            <a:extLst>
              <a:ext uri="{FF2B5EF4-FFF2-40B4-BE49-F238E27FC236}">
                <a16:creationId xmlns:a16="http://schemas.microsoft.com/office/drawing/2014/main" id="{482BBC39-5D4C-4E24-ADB1-5FFFBA7198DC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blipFill>
            <a:blip r:embed="rId3"/>
            <a:srcRect/>
            <a:stretch>
              <a:fillRect l="-12" r="-12"/>
            </a:stretch>
          </a:blipFill>
        </p:spPr>
        <p:txBody>
          <a:bodyPr wrap="square" lIns="0" tIns="0" rIns="0" bIns="0" rtlCol="0"/>
          <a:lstStyle/>
          <a:p>
            <a:pPr rtl="0"/>
            <a:endParaRPr lang="pt-BR" dirty="0"/>
          </a:p>
        </p:txBody>
      </p:sp>
      <p:sp>
        <p:nvSpPr>
          <p:cNvPr id="4" name="objeto 3" descr="Pessoas com documentos">
            <a:extLst>
              <a:ext uri="{FF2B5EF4-FFF2-40B4-BE49-F238E27FC236}">
                <a16:creationId xmlns:a16="http://schemas.microsoft.com/office/drawing/2014/main" id="{0CA2E80D-F3EC-4A5F-8E65-56FEA206EE0F}"/>
              </a:ext>
            </a:extLst>
          </p:cNvPr>
          <p:cNvSpPr/>
          <p:nvPr/>
        </p:nvSpPr>
        <p:spPr>
          <a:xfrm>
            <a:off x="1270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9999"/>
            </a:schemeClr>
          </a:solidFill>
        </p:spPr>
        <p:txBody>
          <a:bodyPr wrap="square" lIns="0" tIns="0" rIns="0" bIns="0" rtlCol="0"/>
          <a:lstStyle/>
          <a:p>
            <a:pPr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FB6C91D-4B22-49F1-9A0B-ABEB9E1F5A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08518"/>
            <a:ext cx="9144000" cy="2128049"/>
          </a:xfrm>
        </p:spPr>
        <p:txBody>
          <a:bodyPr rtlCol="0">
            <a:normAutofit/>
          </a:bodyPr>
          <a:lstStyle/>
          <a:p>
            <a:pPr rtl="0">
              <a:lnSpc>
                <a:spcPct val="125000"/>
              </a:lnSpc>
            </a:pPr>
            <a:r>
              <a:rPr lang="pt-BR" sz="5000" dirty="0">
                <a:latin typeface="Gill Sans MT" panose="020B0502020104020203" pitchFamily="34" charset="0"/>
              </a:rPr>
              <a:t>KPIs para RH</a:t>
            </a:r>
            <a:br>
              <a:rPr lang="pt-BR" sz="5000" dirty="0">
                <a:solidFill>
                  <a:schemeClr val="bg1"/>
                </a:solidFill>
                <a:latin typeface="Gill Sans MT" panose="020B0502020104020203" pitchFamily="34" charset="0"/>
              </a:rPr>
            </a:br>
            <a:r>
              <a:rPr lang="pt-BR" sz="5000" dirty="0">
                <a:latin typeface="Gill Sans MT" panose="020B0502020104020203" pitchFamily="34" charset="0"/>
              </a:rPr>
              <a:t>Gerando Insights Estratégicos</a:t>
            </a:r>
            <a:endParaRPr lang="pt-BR" sz="5000" dirty="0">
              <a:solidFill>
                <a:schemeClr val="bg1"/>
              </a:solidFill>
              <a:latin typeface="Gill Sans MT" panose="020B0502020104020203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8CF06A-B594-4BA2-8B1E-D649096D74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2000" y="4221162"/>
            <a:ext cx="3888000" cy="882001"/>
          </a:xfrm>
          <a:solidFill>
            <a:schemeClr val="accent2">
              <a:alpha val="90000"/>
            </a:schemeClr>
          </a:solidFill>
        </p:spPr>
        <p:txBody>
          <a:bodyPr rtlCol="0" anchor="ctr" anchorCtr="0">
            <a:normAutofit/>
          </a:bodyPr>
          <a:lstStyle/>
          <a:p>
            <a:pPr rtl="0"/>
            <a:r>
              <a:rPr lang="pt-BR" sz="2500" b="1" i="1" spc="65" dirty="0">
                <a:solidFill>
                  <a:schemeClr val="accent1"/>
                </a:solidFill>
                <a:latin typeface="Arial"/>
                <a:cs typeface="Arial"/>
              </a:rPr>
              <a:t>Melhore seu RH</a:t>
            </a:r>
          </a:p>
        </p:txBody>
      </p:sp>
      <p:sp>
        <p:nvSpPr>
          <p:cNvPr id="6" name="objeto 7" descr="Retângulo bege">
            <a:extLst>
              <a:ext uri="{FF2B5EF4-FFF2-40B4-BE49-F238E27FC236}">
                <a16:creationId xmlns:a16="http://schemas.microsoft.com/office/drawing/2014/main" id="{B36975AA-C62E-46BE-9382-E2CF56FDF817}"/>
              </a:ext>
            </a:extLst>
          </p:cNvPr>
          <p:cNvSpPr/>
          <p:nvPr/>
        </p:nvSpPr>
        <p:spPr>
          <a:xfrm>
            <a:off x="2286000" y="3229868"/>
            <a:ext cx="7620000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93556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7" descr="O homem fala por telefone">
            <a:extLst>
              <a:ext uri="{FF2B5EF4-FFF2-40B4-BE49-F238E27FC236}">
                <a16:creationId xmlns:a16="http://schemas.microsoft.com/office/drawing/2014/main" id="{2894B736-0F24-454E-8A9D-717EB78697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" y="4665"/>
            <a:ext cx="6991350" cy="6848669"/>
          </a:xfrm>
          <a:prstGeom prst="rect">
            <a:avLst/>
          </a:prstGeom>
        </p:spPr>
      </p:pic>
      <p:sp>
        <p:nvSpPr>
          <p:cNvPr id="5" name="objeto 3" descr="Retângulo bege">
            <a:extLst>
              <a:ext uri="{FF2B5EF4-FFF2-40B4-BE49-F238E27FC236}">
                <a16:creationId xmlns:a16="http://schemas.microsoft.com/office/drawing/2014/main" id="{DCF29767-6635-4A46-AB77-672CC90C6FBE}"/>
              </a:ext>
            </a:extLst>
          </p:cNvPr>
          <p:cNvSpPr/>
          <p:nvPr/>
        </p:nvSpPr>
        <p:spPr>
          <a:xfrm>
            <a:off x="8181340" y="1359001"/>
            <a:ext cx="4010660" cy="4194074"/>
          </a:xfrm>
          <a:custGeom>
            <a:avLst/>
            <a:gdLst/>
            <a:ahLst/>
            <a:cxnLst/>
            <a:rect l="l" t="t" r="r" b="b"/>
            <a:pathLst>
              <a:path w="4010659" h="333375">
                <a:moveTo>
                  <a:pt x="0" y="333006"/>
                </a:moveTo>
                <a:lnTo>
                  <a:pt x="4010367" y="333006"/>
                </a:lnTo>
                <a:lnTo>
                  <a:pt x="4010367" y="0"/>
                </a:lnTo>
                <a:lnTo>
                  <a:pt x="0" y="0"/>
                </a:lnTo>
                <a:lnTo>
                  <a:pt x="0" y="33300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pPr rtl="0"/>
            <a:endParaRPr lang="pt-BR" dirty="0"/>
          </a:p>
        </p:txBody>
      </p:sp>
      <p:sp>
        <p:nvSpPr>
          <p:cNvPr id="6" name="objeto 6" descr="Retângulo azul">
            <a:extLst>
              <a:ext uri="{FF2B5EF4-FFF2-40B4-BE49-F238E27FC236}">
                <a16:creationId xmlns:a16="http://schemas.microsoft.com/office/drawing/2014/main" id="{9FABC344-E043-45BE-8588-06C658DBCE70}"/>
              </a:ext>
            </a:extLst>
          </p:cNvPr>
          <p:cNvSpPr/>
          <p:nvPr/>
        </p:nvSpPr>
        <p:spPr>
          <a:xfrm>
            <a:off x="5502275" y="1692008"/>
            <a:ext cx="6689725" cy="3528060"/>
          </a:xfrm>
          <a:custGeom>
            <a:avLst/>
            <a:gdLst/>
            <a:ahLst/>
            <a:cxnLst/>
            <a:rect l="l" t="t" r="r" b="b"/>
            <a:pathLst>
              <a:path w="6689725" h="3528060">
                <a:moveTo>
                  <a:pt x="0" y="3527996"/>
                </a:moveTo>
                <a:lnTo>
                  <a:pt x="6689648" y="3527996"/>
                </a:lnTo>
                <a:lnTo>
                  <a:pt x="6689648" y="0"/>
                </a:lnTo>
                <a:lnTo>
                  <a:pt x="0" y="0"/>
                </a:lnTo>
                <a:lnTo>
                  <a:pt x="0" y="352799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pPr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45C5720-51D4-4632-91CD-936B8AB96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7698" y="2331086"/>
            <a:ext cx="5165558" cy="833856"/>
          </a:xfrm>
        </p:spPr>
        <p:txBody>
          <a:bodyPr rtlCol="0"/>
          <a:lstStyle/>
          <a:p>
            <a:pPr rtl="0"/>
            <a:r>
              <a:rPr lang="pt-BR" dirty="0">
                <a:solidFill>
                  <a:schemeClr val="bg1"/>
                </a:solidFill>
              </a:rPr>
              <a:t>APRESENTAÇÃO</a:t>
            </a:r>
            <a:endParaRPr lang="pt-BR" dirty="0">
              <a:latin typeface="Gill Sans MT" panose="020B0502020104020203" pitchFamily="34" charset="0"/>
            </a:endParaRP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24D506CC-0185-443E-82C7-1600C21D6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pt-BR" smtClean="0"/>
              <a:t>2</a:t>
            </a:fld>
            <a:endParaRPr lang="pt-BR" dirty="0"/>
          </a:p>
        </p:txBody>
      </p:sp>
      <p:sp>
        <p:nvSpPr>
          <p:cNvPr id="7" name="objeto 9" descr="Retângulo bege">
            <a:extLst>
              <a:ext uri="{FF2B5EF4-FFF2-40B4-BE49-F238E27FC236}">
                <a16:creationId xmlns:a16="http://schemas.microsoft.com/office/drawing/2014/main" id="{02C6628C-972C-4717-AAF3-D882B30F6658}"/>
              </a:ext>
            </a:extLst>
          </p:cNvPr>
          <p:cNvSpPr/>
          <p:nvPr/>
        </p:nvSpPr>
        <p:spPr>
          <a:xfrm>
            <a:off x="6313932" y="3035554"/>
            <a:ext cx="4754118" cy="50546"/>
          </a:xfrm>
          <a:custGeom>
            <a:avLst/>
            <a:gdLst/>
            <a:ahLst/>
            <a:cxnLst/>
            <a:rect l="l" t="t" r="r" b="b"/>
            <a:pathLst>
              <a:path w="2642870">
                <a:moveTo>
                  <a:pt x="0" y="0"/>
                </a:moveTo>
                <a:lnTo>
                  <a:pt x="2642616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pPr rtl="0"/>
            <a:endParaRPr lang="pt-BR" dirty="0"/>
          </a:p>
        </p:txBody>
      </p:sp>
      <p:sp>
        <p:nvSpPr>
          <p:cNvPr id="9" name="Espaço Reservado para Conteúdo 3">
            <a:extLst>
              <a:ext uri="{FF2B5EF4-FFF2-40B4-BE49-F238E27FC236}">
                <a16:creationId xmlns:a16="http://schemas.microsoft.com/office/drawing/2014/main" id="{E7A818AB-B120-41D5-88A6-933AB9CAAE68}"/>
              </a:ext>
            </a:extLst>
          </p:cNvPr>
          <p:cNvSpPr txBox="1">
            <a:spLocks/>
          </p:cNvSpPr>
          <p:nvPr/>
        </p:nvSpPr>
        <p:spPr>
          <a:xfrm>
            <a:off x="6188242" y="3217631"/>
            <a:ext cx="5181600" cy="1603375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0">
              <a:buNone/>
            </a:pPr>
            <a:r>
              <a:rPr lang="pt-BR" sz="1400" spc="100" dirty="0">
                <a:solidFill>
                  <a:schemeClr val="bg1"/>
                </a:solidFill>
              </a:rPr>
              <a:t>Em um cenário de transformação digital e foco em pessoas, os Recursos Humanos assumem um papel estratégico nas organizações. Este e-book foi criado para ajudar profissionais de RH a entender, aplicar e monitorar os principais KPIs (Key Performance </a:t>
            </a:r>
            <a:r>
              <a:rPr lang="pt-BR" sz="1400" spc="100" dirty="0" err="1">
                <a:solidFill>
                  <a:schemeClr val="bg1"/>
                </a:solidFill>
              </a:rPr>
              <a:t>Indicators</a:t>
            </a:r>
            <a:r>
              <a:rPr lang="pt-BR" sz="1400" spc="100" dirty="0">
                <a:solidFill>
                  <a:schemeClr val="bg1"/>
                </a:solidFill>
              </a:rPr>
              <a:t>) que impactam diretamente os resultados organizacionais. Com apoio de IA generativa, o conteúdo foi desenvolvido para ser prático, atual e aplicável.</a:t>
            </a:r>
            <a:endParaRPr lang="pt-BR" sz="1400" i="1" spc="100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93949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Conteúdo 6" descr="Mãos das pessoas">
            <a:extLst>
              <a:ext uri="{FF2B5EF4-FFF2-40B4-BE49-F238E27FC236}">
                <a16:creationId xmlns:a16="http://schemas.microsoft.com/office/drawing/2014/main" id="{7D87B918-371C-4B31-9C7A-1D9A08C8A3BB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00" y="0"/>
            <a:ext cx="12189600" cy="6856650"/>
          </a:xfrm>
        </p:spPr>
      </p:pic>
      <p:sp>
        <p:nvSpPr>
          <p:cNvPr id="8" name="objeto 3" descr="Retângulo azul">
            <a:extLst>
              <a:ext uri="{FF2B5EF4-FFF2-40B4-BE49-F238E27FC236}">
                <a16:creationId xmlns:a16="http://schemas.microsoft.com/office/drawing/2014/main" id="{A277388B-76FD-44C4-B506-F8A157E57C65}"/>
              </a:ext>
            </a:extLst>
          </p:cNvPr>
          <p:cNvSpPr/>
          <p:nvPr/>
        </p:nvSpPr>
        <p:spPr>
          <a:xfrm>
            <a:off x="1200" y="0"/>
            <a:ext cx="1218960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9999"/>
            </a:schemeClr>
          </a:solidFill>
        </p:spPr>
        <p:txBody>
          <a:bodyPr wrap="square" lIns="0" tIns="0" rIns="0" bIns="0" rtlCol="0"/>
          <a:lstStyle/>
          <a:p>
            <a:pPr rtl="0"/>
            <a:endParaRPr lang="pt-BR" dirty="0"/>
          </a:p>
        </p:txBody>
      </p:sp>
      <p:sp>
        <p:nvSpPr>
          <p:cNvPr id="9" name="Oval 8" descr="Oval bege">
            <a:extLst>
              <a:ext uri="{FF2B5EF4-FFF2-40B4-BE49-F238E27FC236}">
                <a16:creationId xmlns:a16="http://schemas.microsoft.com/office/drawing/2014/main" id="{1191A09B-8CB4-416A-B1F9-ABC3B476DE1F}"/>
              </a:ext>
            </a:extLst>
          </p:cNvPr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4D00B79-44BB-4D5F-B51D-2270A854D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16" y="329956"/>
            <a:ext cx="10515600" cy="1325563"/>
          </a:xfrm>
        </p:spPr>
        <p:txBody>
          <a:bodyPr rtlCol="0"/>
          <a:lstStyle/>
          <a:p>
            <a:pPr rtl="0"/>
            <a:r>
              <a:rPr lang="pt-BR" dirty="0">
                <a:solidFill>
                  <a:schemeClr val="bg1"/>
                </a:solidFill>
              </a:rPr>
              <a:t>O QUE SÃO KPIs?</a:t>
            </a:r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CDF3C1EE-D9A0-406A-9A3A-75C82527E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pt-BR" smtClean="0"/>
              <a:t>3</a:t>
            </a:fld>
            <a:endParaRPr lang="pt-BR" dirty="0"/>
          </a:p>
        </p:txBody>
      </p:sp>
      <p:sp>
        <p:nvSpPr>
          <p:cNvPr id="11" name="objeto 5" descr="Retângulo bege">
            <a:extLst>
              <a:ext uri="{FF2B5EF4-FFF2-40B4-BE49-F238E27FC236}">
                <a16:creationId xmlns:a16="http://schemas.microsoft.com/office/drawing/2014/main" id="{B07BA1F9-2C19-4C07-B29B-18B9FBCC4755}"/>
              </a:ext>
            </a:extLst>
          </p:cNvPr>
          <p:cNvSpPr/>
          <p:nvPr/>
        </p:nvSpPr>
        <p:spPr>
          <a:xfrm flipV="1">
            <a:off x="915637" y="1263425"/>
            <a:ext cx="6123338" cy="45719"/>
          </a:xfrm>
          <a:custGeom>
            <a:avLst/>
            <a:gdLst/>
            <a:ahLst/>
            <a:cxnLst/>
            <a:rect l="l" t="t" r="r" b="b"/>
            <a:pathLst>
              <a:path w="3931920">
                <a:moveTo>
                  <a:pt x="0" y="0"/>
                </a:moveTo>
                <a:lnTo>
                  <a:pt x="3931920" y="0"/>
                </a:lnTo>
              </a:path>
            </a:pathLst>
          </a:custGeom>
          <a:ln w="54864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pPr rtl="0"/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2470199D-DDAE-4D88-9F00-88EB8E080218}"/>
              </a:ext>
            </a:extLst>
          </p:cNvPr>
          <p:cNvSpPr/>
          <p:nvPr/>
        </p:nvSpPr>
        <p:spPr>
          <a:xfrm>
            <a:off x="1189711" y="2242613"/>
            <a:ext cx="9812577" cy="285975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0">
            <a:noAutofit/>
          </a:bodyPr>
          <a:lstStyle/>
          <a:p>
            <a:pPr algn="just" rtl="0">
              <a:lnSpc>
                <a:spcPct val="100000"/>
              </a:lnSpc>
              <a:spcBef>
                <a:spcPts val="1055"/>
              </a:spcBef>
            </a:pPr>
            <a:r>
              <a:rPr lang="pt-BR" sz="2400" dirty="0"/>
              <a:t>KPIs são métricas que indicam o desempenho de processos, pessoas e estratégias. No RH, eles ajudam a medir desde a eficiência do recrutamento até o impacto da cultura organizacional. Um bom KPI é específico, mensurável, relevante e temporal — e deve sempre estar alinhado aos objetivos da empresa.</a:t>
            </a:r>
            <a:endParaRPr lang="pt-BR" sz="2400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63215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o Número do Slide 1">
            <a:extLst>
              <a:ext uri="{FF2B5EF4-FFF2-40B4-BE49-F238E27FC236}">
                <a16:creationId xmlns:a16="http://schemas.microsoft.com/office/drawing/2014/main" id="{6A8AF702-A859-4D49-823E-455702872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pt-BR" smtClean="0"/>
              <a:t>4</a:t>
            </a:fld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6D5D9271-B659-4A45-8868-BAEC4EF7D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410" y="361567"/>
            <a:ext cx="10515600" cy="1325563"/>
          </a:xfrm>
        </p:spPr>
        <p:txBody>
          <a:bodyPr rtlCol="0">
            <a:normAutofit/>
          </a:bodyPr>
          <a:lstStyle/>
          <a:p>
            <a:pPr rtl="0"/>
            <a:r>
              <a:rPr lang="pt-BR" dirty="0"/>
              <a:t>KPIs Estratégicos </a:t>
            </a:r>
            <a:r>
              <a:rPr lang="pt-BR" dirty="0" err="1"/>
              <a:t>vs</a:t>
            </a:r>
            <a:r>
              <a:rPr lang="pt-BR" dirty="0"/>
              <a:t> Operacionais</a:t>
            </a:r>
          </a:p>
        </p:txBody>
      </p:sp>
      <p:sp>
        <p:nvSpPr>
          <p:cNvPr id="29" name="objeto 27" descr="Retângulo bege">
            <a:extLst>
              <a:ext uri="{FF2B5EF4-FFF2-40B4-BE49-F238E27FC236}">
                <a16:creationId xmlns:a16="http://schemas.microsoft.com/office/drawing/2014/main" id="{CE178D24-EC15-4677-8CE4-B6FAE887C7CE}"/>
              </a:ext>
            </a:extLst>
          </p:cNvPr>
          <p:cNvSpPr/>
          <p:nvPr/>
        </p:nvSpPr>
        <p:spPr>
          <a:xfrm flipV="1">
            <a:off x="976913" y="1283991"/>
            <a:ext cx="2706087" cy="45719"/>
          </a:xfrm>
          <a:custGeom>
            <a:avLst/>
            <a:gdLst/>
            <a:ahLst/>
            <a:cxnLst/>
            <a:rect l="l" t="t" r="r" b="b"/>
            <a:pathLst>
              <a:path w="2501265">
                <a:moveTo>
                  <a:pt x="0" y="0"/>
                </a:moveTo>
                <a:lnTo>
                  <a:pt x="2500883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pPr rtl="0"/>
            <a:endParaRPr lang="pt-BR" dirty="0"/>
          </a:p>
        </p:txBody>
      </p:sp>
      <p:sp>
        <p:nvSpPr>
          <p:cNvPr id="38" name="Espaço Reservado para Texto 3">
            <a:extLst>
              <a:ext uri="{FF2B5EF4-FFF2-40B4-BE49-F238E27FC236}">
                <a16:creationId xmlns:a16="http://schemas.microsoft.com/office/drawing/2014/main" id="{3AAF2546-6871-494C-A126-C625BBE3261B}"/>
              </a:ext>
            </a:extLst>
          </p:cNvPr>
          <p:cNvSpPr txBox="1">
            <a:spLocks/>
          </p:cNvSpPr>
          <p:nvPr/>
        </p:nvSpPr>
        <p:spPr>
          <a:xfrm>
            <a:off x="170121" y="1687130"/>
            <a:ext cx="10983432" cy="21405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buNone/>
            </a:pPr>
            <a:r>
              <a:rPr lang="pt-BR" sz="2000" b="1" dirty="0">
                <a:solidFill>
                  <a:srgbClr val="FFC000"/>
                </a:solidFill>
              </a:rPr>
              <a:t>KPIs Estratégicos:</a:t>
            </a:r>
            <a:r>
              <a:rPr lang="pt-BR" sz="2000" b="1" dirty="0">
                <a:solidFill>
                  <a:schemeClr val="bg1"/>
                </a:solidFill>
              </a:rPr>
              <a:t> Avaliam o impacto do RH nos resultados da empresa (Ex.: ROI em treinamento, taxa de retenção de talentos).</a:t>
            </a:r>
          </a:p>
          <a:p>
            <a:pPr marL="0" indent="0" rtl="0">
              <a:buNone/>
            </a:pPr>
            <a:endParaRPr lang="pt-BR" sz="2000" b="1" dirty="0">
              <a:solidFill>
                <a:schemeClr val="bg1"/>
              </a:solidFill>
            </a:endParaRPr>
          </a:p>
          <a:p>
            <a:pPr marL="0" indent="0" rtl="0">
              <a:buNone/>
            </a:pPr>
            <a:r>
              <a:rPr lang="pt-BR" sz="2000" b="1" dirty="0">
                <a:solidFill>
                  <a:srgbClr val="FFC000"/>
                </a:solidFill>
              </a:rPr>
              <a:t>KPIs Operacionais: </a:t>
            </a:r>
            <a:r>
              <a:rPr lang="pt-BR" sz="2000" b="1" dirty="0">
                <a:solidFill>
                  <a:schemeClr val="bg1"/>
                </a:solidFill>
              </a:rPr>
              <a:t>Medem a eficiência dos processos internos (Ex.: tempo de contratação, taxa de absenteísmo).</a:t>
            </a:r>
          </a:p>
        </p:txBody>
      </p:sp>
    </p:spTree>
    <p:extLst>
      <p:ext uri="{BB962C8B-B14F-4D97-AF65-F5344CB8AC3E}">
        <p14:creationId xmlns:p14="http://schemas.microsoft.com/office/powerpoint/2010/main" val="3514470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Espaço Reservado para Imagem 11" descr="Dois homens analisam um plano">
            <a:extLst>
              <a:ext uri="{FF2B5EF4-FFF2-40B4-BE49-F238E27FC236}">
                <a16:creationId xmlns:a16="http://schemas.microsoft.com/office/drawing/2014/main" id="{97D2A81D-F7D1-4144-9EC5-03531DC5260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3" y="1"/>
            <a:ext cx="11277598" cy="6857999"/>
          </a:xfrm>
        </p:spPr>
      </p:pic>
      <p:sp>
        <p:nvSpPr>
          <p:cNvPr id="16" name="objeto 3" descr="Retângulo bege">
            <a:extLst>
              <a:ext uri="{FF2B5EF4-FFF2-40B4-BE49-F238E27FC236}">
                <a16:creationId xmlns:a16="http://schemas.microsoft.com/office/drawing/2014/main" id="{C6CF32E2-A869-4259-A659-5EEE6BDA3B59}"/>
              </a:ext>
            </a:extLst>
          </p:cNvPr>
          <p:cNvSpPr/>
          <p:nvPr/>
        </p:nvSpPr>
        <p:spPr>
          <a:xfrm>
            <a:off x="579775" y="472492"/>
            <a:ext cx="4051368" cy="5913017"/>
          </a:xfrm>
          <a:custGeom>
            <a:avLst/>
            <a:gdLst/>
            <a:ahLst/>
            <a:cxnLst/>
            <a:rect l="l" t="t" r="r" b="b"/>
            <a:pathLst>
              <a:path w="4010659" h="333375">
                <a:moveTo>
                  <a:pt x="0" y="333006"/>
                </a:moveTo>
                <a:lnTo>
                  <a:pt x="4010367" y="333006"/>
                </a:lnTo>
                <a:lnTo>
                  <a:pt x="4010367" y="0"/>
                </a:lnTo>
                <a:lnTo>
                  <a:pt x="0" y="0"/>
                </a:lnTo>
                <a:lnTo>
                  <a:pt x="0" y="33300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pPr rtl="0"/>
            <a:endParaRPr lang="pt-BR" dirty="0"/>
          </a:p>
        </p:txBody>
      </p:sp>
      <p:sp>
        <p:nvSpPr>
          <p:cNvPr id="14" name="Oval 13" descr="Oval bege">
            <a:extLst>
              <a:ext uri="{FF2B5EF4-FFF2-40B4-BE49-F238E27FC236}">
                <a16:creationId xmlns:a16="http://schemas.microsoft.com/office/drawing/2014/main" id="{B8809DE3-0F1D-442A-8935-B40AD580864B}"/>
              </a:ext>
            </a:extLst>
          </p:cNvPr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2" name="objeto 6" descr="Retângulo azul">
            <a:extLst>
              <a:ext uri="{FF2B5EF4-FFF2-40B4-BE49-F238E27FC236}">
                <a16:creationId xmlns:a16="http://schemas.microsoft.com/office/drawing/2014/main" id="{882E2F92-EB16-4B55-B49A-3C6AB7B2BF30}"/>
              </a:ext>
            </a:extLst>
          </p:cNvPr>
          <p:cNvSpPr/>
          <p:nvPr/>
        </p:nvSpPr>
        <p:spPr>
          <a:xfrm>
            <a:off x="911225" y="836613"/>
            <a:ext cx="5184775" cy="5184775"/>
          </a:xfrm>
          <a:custGeom>
            <a:avLst/>
            <a:gdLst/>
            <a:ahLst/>
            <a:cxnLst/>
            <a:rect l="l" t="t" r="r" b="b"/>
            <a:pathLst>
              <a:path w="6689725" h="3528060">
                <a:moveTo>
                  <a:pt x="0" y="3527996"/>
                </a:moveTo>
                <a:lnTo>
                  <a:pt x="6689648" y="3527996"/>
                </a:lnTo>
                <a:lnTo>
                  <a:pt x="6689648" y="0"/>
                </a:lnTo>
                <a:lnTo>
                  <a:pt x="0" y="0"/>
                </a:lnTo>
                <a:lnTo>
                  <a:pt x="0" y="352799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pPr rtl="0"/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302303BC-9A39-470F-8733-A268BC16B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4890" y="1047514"/>
            <a:ext cx="4770591" cy="808386"/>
          </a:xfrm>
        </p:spPr>
        <p:txBody>
          <a:bodyPr rtlCol="0">
            <a:normAutofit fontScale="90000"/>
          </a:bodyPr>
          <a:lstStyle/>
          <a:p>
            <a:pPr rtl="0"/>
            <a:r>
              <a:rPr lang="pt-BR" sz="3000" dirty="0">
                <a:solidFill>
                  <a:schemeClr val="bg1"/>
                </a:solidFill>
              </a:rPr>
              <a:t>Recrutamento e seleção</a:t>
            </a:r>
            <a:br>
              <a:rPr lang="pt-BR" sz="3000" dirty="0">
                <a:solidFill>
                  <a:schemeClr val="bg1"/>
                </a:solidFill>
              </a:rPr>
            </a:br>
            <a:br>
              <a:rPr lang="pt-BR" sz="3000" dirty="0">
                <a:solidFill>
                  <a:schemeClr val="bg1"/>
                </a:solidFill>
              </a:rPr>
            </a:br>
            <a:r>
              <a:rPr lang="pt-BR" sz="2200" dirty="0">
                <a:solidFill>
                  <a:schemeClr val="bg1"/>
                </a:solidFill>
              </a:rPr>
              <a:t>Principais KPIs: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3C936ED-4D5A-4897-BFCD-65082B328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72476" y="2875186"/>
            <a:ext cx="4057961" cy="1431234"/>
          </a:xfrm>
        </p:spPr>
        <p:txBody>
          <a:bodyPr rtlCol="0"/>
          <a:lstStyle/>
          <a:p>
            <a:pPr rtl="0"/>
            <a:r>
              <a:rPr lang="pt-BR" b="1" dirty="0"/>
              <a:t>Tempo médio de contratação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77C2D5CA-E2DA-4224-B2BC-C872D2EF6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pt-BR" smtClean="0"/>
              <a:t>5</a:t>
            </a:fld>
            <a:endParaRPr lang="pt-BR" dirty="0"/>
          </a:p>
        </p:txBody>
      </p:sp>
      <p:pic>
        <p:nvPicPr>
          <p:cNvPr id="28" name="Espaço Reservado para Imagem 27" descr="Ícone de verificação">
            <a:extLst>
              <a:ext uri="{FF2B5EF4-FFF2-40B4-BE49-F238E27FC236}">
                <a16:creationId xmlns:a16="http://schemas.microsoft.com/office/drawing/2014/main" id="{3CDD98F8-113E-4FB2-A33D-039AFCD9C225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39726" y="2708434"/>
            <a:ext cx="720000" cy="720000"/>
          </a:xfrm>
        </p:spPr>
      </p:pic>
      <p:pic>
        <p:nvPicPr>
          <p:cNvPr id="30" name="Espaço Reservado para Imagem 29" descr="Ícone de verificação">
            <a:extLst>
              <a:ext uri="{FF2B5EF4-FFF2-40B4-BE49-F238E27FC236}">
                <a16:creationId xmlns:a16="http://schemas.microsoft.com/office/drawing/2014/main" id="{3CFFE792-5644-4DB8-9A25-D855F9B155E1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39726" y="3483770"/>
            <a:ext cx="720000" cy="719999"/>
          </a:xfrm>
        </p:spPr>
      </p:pic>
      <p:sp>
        <p:nvSpPr>
          <p:cNvPr id="18" name="Espaço Reservado para Texto 17">
            <a:extLst>
              <a:ext uri="{FF2B5EF4-FFF2-40B4-BE49-F238E27FC236}">
                <a16:creationId xmlns:a16="http://schemas.microsoft.com/office/drawing/2014/main" id="{C3A22FC4-1B49-46F9-A55E-33AACF2DEBBB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2072475" y="3638054"/>
            <a:ext cx="4057961" cy="472239"/>
          </a:xfrm>
        </p:spPr>
        <p:txBody>
          <a:bodyPr rtlCol="0"/>
          <a:lstStyle/>
          <a:p>
            <a:pPr rtl="0"/>
            <a:r>
              <a:rPr lang="pt-BR" b="1" dirty="0"/>
              <a:t>Custo por contratação</a:t>
            </a:r>
          </a:p>
        </p:txBody>
      </p:sp>
      <p:pic>
        <p:nvPicPr>
          <p:cNvPr id="32" name="Espaço Reservado para Imagem 31" descr="Ícone de verificação">
            <a:extLst>
              <a:ext uri="{FF2B5EF4-FFF2-40B4-BE49-F238E27FC236}">
                <a16:creationId xmlns:a16="http://schemas.microsoft.com/office/drawing/2014/main" id="{A80E0D18-9ED0-4449-BE73-35CBF01D1A4D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39726" y="4259105"/>
            <a:ext cx="720000" cy="719999"/>
          </a:xfrm>
        </p:spPr>
      </p:pic>
      <p:sp>
        <p:nvSpPr>
          <p:cNvPr id="20" name="Espaço Reservado para Texto 19">
            <a:extLst>
              <a:ext uri="{FF2B5EF4-FFF2-40B4-BE49-F238E27FC236}">
                <a16:creationId xmlns:a16="http://schemas.microsoft.com/office/drawing/2014/main" id="{53C06E93-5E4C-46CA-9FB4-1640A2DC1748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2072475" y="4433825"/>
            <a:ext cx="4057961" cy="402241"/>
          </a:xfrm>
        </p:spPr>
        <p:txBody>
          <a:bodyPr rtlCol="0"/>
          <a:lstStyle/>
          <a:p>
            <a:pPr rtl="0"/>
            <a:r>
              <a:rPr lang="pt-BR" b="1" dirty="0"/>
              <a:t>Taxa de aceitação de oferta</a:t>
            </a:r>
          </a:p>
        </p:txBody>
      </p:sp>
      <p:sp>
        <p:nvSpPr>
          <p:cNvPr id="15" name="objeto 27" descr="Retângulo bege">
            <a:extLst>
              <a:ext uri="{FF2B5EF4-FFF2-40B4-BE49-F238E27FC236}">
                <a16:creationId xmlns:a16="http://schemas.microsoft.com/office/drawing/2014/main" id="{C5B67D68-F2A3-48A2-B2A0-C9DF8BA55D80}"/>
              </a:ext>
            </a:extLst>
          </p:cNvPr>
          <p:cNvSpPr/>
          <p:nvPr/>
        </p:nvSpPr>
        <p:spPr>
          <a:xfrm flipV="1">
            <a:off x="1473385" y="2395265"/>
            <a:ext cx="2648559" cy="75489"/>
          </a:xfrm>
          <a:custGeom>
            <a:avLst/>
            <a:gdLst/>
            <a:ahLst/>
            <a:cxnLst/>
            <a:rect l="l" t="t" r="r" b="b"/>
            <a:pathLst>
              <a:path w="2501265">
                <a:moveTo>
                  <a:pt x="0" y="0"/>
                </a:moveTo>
                <a:lnTo>
                  <a:pt x="2500883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pPr rtl="0"/>
            <a:endParaRPr lang="pt-BR" dirty="0"/>
          </a:p>
        </p:txBody>
      </p:sp>
      <p:pic>
        <p:nvPicPr>
          <p:cNvPr id="17" name="Espaço Reservado para Imagem 31" descr="Ícone de verificação">
            <a:extLst>
              <a:ext uri="{FF2B5EF4-FFF2-40B4-BE49-F238E27FC236}">
                <a16:creationId xmlns:a16="http://schemas.microsoft.com/office/drawing/2014/main" id="{5284FB96-02DE-4399-911F-67E74227D4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60214" y="4953277"/>
            <a:ext cx="720000" cy="719999"/>
          </a:xfrm>
          <a:prstGeom prst="rect">
            <a:avLst/>
          </a:prstGeom>
        </p:spPr>
      </p:pic>
      <p:sp>
        <p:nvSpPr>
          <p:cNvPr id="19" name="Espaço Reservado para Texto 19">
            <a:extLst>
              <a:ext uri="{FF2B5EF4-FFF2-40B4-BE49-F238E27FC236}">
                <a16:creationId xmlns:a16="http://schemas.microsoft.com/office/drawing/2014/main" id="{31060D12-45C6-405F-96B9-E741E9FB1780}"/>
              </a:ext>
            </a:extLst>
          </p:cNvPr>
          <p:cNvSpPr txBox="1">
            <a:spLocks/>
          </p:cNvSpPr>
          <p:nvPr/>
        </p:nvSpPr>
        <p:spPr>
          <a:xfrm>
            <a:off x="2092963" y="5127997"/>
            <a:ext cx="4057961" cy="4022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bg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Qualidade da contratação</a:t>
            </a:r>
          </a:p>
        </p:txBody>
      </p:sp>
    </p:spTree>
    <p:extLst>
      <p:ext uri="{BB962C8B-B14F-4D97-AF65-F5344CB8AC3E}">
        <p14:creationId xmlns:p14="http://schemas.microsoft.com/office/powerpoint/2010/main" val="2824039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Espaço Reservado para Imagem 32" descr="Aperto de mão">
            <a:extLst>
              <a:ext uri="{FF2B5EF4-FFF2-40B4-BE49-F238E27FC236}">
                <a16:creationId xmlns:a16="http://schemas.microsoft.com/office/drawing/2014/main" id="{2F5DB649-A4D3-4E21-BA31-0C84C9B3603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"/>
          <a:stretch/>
        </p:blipFill>
        <p:spPr>
          <a:xfrm>
            <a:off x="1200" y="3115388"/>
            <a:ext cx="12189600" cy="3743586"/>
          </a:xfrm>
        </p:spPr>
      </p:pic>
      <p:sp>
        <p:nvSpPr>
          <p:cNvPr id="12" name="objeto 3" descr="Retângulo azul">
            <a:extLst>
              <a:ext uri="{FF2B5EF4-FFF2-40B4-BE49-F238E27FC236}">
                <a16:creationId xmlns:a16="http://schemas.microsoft.com/office/drawing/2014/main" id="{CDEEA71D-C3B3-45BB-A776-D17D92A58127}"/>
              </a:ext>
            </a:extLst>
          </p:cNvPr>
          <p:cNvSpPr/>
          <p:nvPr/>
        </p:nvSpPr>
        <p:spPr>
          <a:xfrm>
            <a:off x="-16740" y="3115389"/>
            <a:ext cx="12189600" cy="3742611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80000"/>
            </a:schemeClr>
          </a:solidFill>
        </p:spPr>
        <p:txBody>
          <a:bodyPr wrap="square" lIns="0" tIns="0" rIns="0" bIns="0" rtlCol="0"/>
          <a:lstStyle/>
          <a:p>
            <a:pPr rtl="0"/>
            <a:endParaRPr lang="pt-BR" dirty="0"/>
          </a:p>
        </p:txBody>
      </p:sp>
      <p:sp>
        <p:nvSpPr>
          <p:cNvPr id="13" name="Oval 12" descr="Oval bege">
            <a:extLst>
              <a:ext uri="{FF2B5EF4-FFF2-40B4-BE49-F238E27FC236}">
                <a16:creationId xmlns:a16="http://schemas.microsoft.com/office/drawing/2014/main" id="{F336552F-CA64-452F-9BD8-01334388BFF5}"/>
              </a:ext>
            </a:extLst>
          </p:cNvPr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F9ADB42F-AE48-4323-897F-DB5A083BD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064" y="361648"/>
            <a:ext cx="10515600" cy="1325563"/>
          </a:xfrm>
        </p:spPr>
        <p:txBody>
          <a:bodyPr rtlCol="0"/>
          <a:lstStyle/>
          <a:p>
            <a:pPr rtl="0"/>
            <a:r>
              <a:rPr lang="pt-BR" dirty="0"/>
              <a:t>ONBOARDING e INTEGRAÇÃO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93C1E99-672F-46AE-BB08-DD22B0928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2111" y="2407015"/>
            <a:ext cx="6754963" cy="446165"/>
          </a:xfrm>
        </p:spPr>
        <p:txBody>
          <a:bodyPr rtlCol="0">
            <a:noAutofit/>
          </a:bodyPr>
          <a:lstStyle/>
          <a:p>
            <a:pPr rtl="0"/>
            <a:r>
              <a:rPr lang="pt-BR" sz="3600" dirty="0"/>
              <a:t>INDICADORES: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DEAD4F2-C5CC-44E9-A092-76413D5CA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8064" y="3810697"/>
            <a:ext cx="9981306" cy="2541451"/>
          </a:xfrm>
        </p:spPr>
        <p:txBody>
          <a:bodyPr rtlCol="0">
            <a:noAutofit/>
          </a:bodyPr>
          <a:lstStyle/>
          <a:p>
            <a:pPr rtl="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pt-BR" sz="2400" b="1" dirty="0">
                <a:solidFill>
                  <a:srgbClr val="FFC000"/>
                </a:solidFill>
                <a:cs typeface="Arial"/>
              </a:rPr>
              <a:t>Tempo de Integração.</a:t>
            </a:r>
          </a:p>
          <a:p>
            <a:pPr rtl="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pt-BR" sz="2400" b="1" dirty="0">
                <a:solidFill>
                  <a:srgbClr val="FFC000"/>
                </a:solidFill>
                <a:cs typeface="Arial"/>
              </a:rPr>
              <a:t>Taxa de Retenção nos primeiros 90 dias.</a:t>
            </a:r>
          </a:p>
          <a:p>
            <a:pPr rtl="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pt-BR" sz="2400" b="1" dirty="0">
                <a:solidFill>
                  <a:srgbClr val="FFC000"/>
                </a:solidFill>
                <a:cs typeface="Arial"/>
              </a:rPr>
              <a:t>NPS do </a:t>
            </a:r>
            <a:r>
              <a:rPr lang="pt-BR" sz="2400" b="1" dirty="0" err="1">
                <a:solidFill>
                  <a:srgbClr val="FFC000"/>
                </a:solidFill>
                <a:cs typeface="Arial"/>
              </a:rPr>
              <a:t>onboarding</a:t>
            </a:r>
            <a:r>
              <a:rPr lang="pt-BR" sz="2400" b="1" dirty="0">
                <a:solidFill>
                  <a:srgbClr val="FFC000"/>
                </a:solidFill>
                <a:cs typeface="Arial"/>
              </a:rPr>
              <a:t>.</a:t>
            </a:r>
          </a:p>
          <a:p>
            <a:pPr rtl="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pt-BR" sz="2400" b="1" dirty="0">
                <a:solidFill>
                  <a:srgbClr val="FFC000"/>
                </a:solidFill>
                <a:cs typeface="Arial"/>
              </a:rPr>
              <a:t>Engajamento inicial (participação em treinamentos e feedbacks).</a:t>
            </a:r>
          </a:p>
          <a:p>
            <a:pPr marL="0" indent="0" rtl="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None/>
            </a:pPr>
            <a:endParaRPr lang="pt-BR" sz="2400" i="1" dirty="0">
              <a:solidFill>
                <a:srgbClr val="FFC000"/>
              </a:solidFill>
              <a:cs typeface="Arial"/>
            </a:endParaRPr>
          </a:p>
          <a:p>
            <a:pPr marL="0" indent="0" rtl="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None/>
            </a:pPr>
            <a:r>
              <a:rPr lang="pt-BR" sz="2400" i="1" dirty="0">
                <a:solidFill>
                  <a:srgbClr val="FFC000"/>
                </a:solidFill>
                <a:cs typeface="Arial"/>
              </a:rPr>
              <a:t> </a:t>
            </a:r>
          </a:p>
          <a:p>
            <a:pPr rtl="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</a:pPr>
            <a:endParaRPr lang="pt-BR" i="1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68F7FB6B-EAC9-40F7-9522-61A8D53EF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pt-BR" smtClean="0"/>
              <a:t>6</a:t>
            </a:fld>
            <a:endParaRPr lang="pt-BR" dirty="0"/>
          </a:p>
        </p:txBody>
      </p:sp>
      <p:sp>
        <p:nvSpPr>
          <p:cNvPr id="9" name="objeto 5" descr="Retângulo bege">
            <a:extLst>
              <a:ext uri="{FF2B5EF4-FFF2-40B4-BE49-F238E27FC236}">
                <a16:creationId xmlns:a16="http://schemas.microsoft.com/office/drawing/2014/main" id="{890F7762-BD37-4D33-9F80-1DA07B5E172E}"/>
              </a:ext>
            </a:extLst>
          </p:cNvPr>
          <p:cNvSpPr/>
          <p:nvPr/>
        </p:nvSpPr>
        <p:spPr>
          <a:xfrm>
            <a:off x="915637" y="1337102"/>
            <a:ext cx="6378298" cy="124902"/>
          </a:xfrm>
          <a:custGeom>
            <a:avLst/>
            <a:gdLst/>
            <a:ahLst/>
            <a:cxnLst/>
            <a:rect l="l" t="t" r="r" b="b"/>
            <a:pathLst>
              <a:path w="3931920">
                <a:moveTo>
                  <a:pt x="0" y="0"/>
                </a:moveTo>
                <a:lnTo>
                  <a:pt x="3931920" y="0"/>
                </a:lnTo>
              </a:path>
            </a:pathLst>
          </a:custGeom>
          <a:ln w="54864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27019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74140CF4-2DAA-4239-BB77-274BDD82A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pt-BR" smtClean="0"/>
              <a:t>7</a:t>
            </a:fld>
            <a:endParaRPr lang="pt-BR" dirty="0"/>
          </a:p>
        </p:txBody>
      </p:sp>
      <p:pic>
        <p:nvPicPr>
          <p:cNvPr id="4" name="Espaço Reservado para Imagem 11" descr="Dois homens perto de um laptop ">
            <a:extLst>
              <a:ext uri="{FF2B5EF4-FFF2-40B4-BE49-F238E27FC236}">
                <a16:creationId xmlns:a16="http://schemas.microsoft.com/office/drawing/2014/main" id="{509FA566-1699-4388-B44C-C3EE5EC0516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0" y="2"/>
            <a:ext cx="6256751" cy="6857998"/>
          </a:xfrm>
          <a:prstGeom prst="rect">
            <a:avLst/>
          </a:prstGeom>
        </p:spPr>
      </p:pic>
      <p:sp>
        <p:nvSpPr>
          <p:cNvPr id="5" name="objeto 3" descr="Retângulo bege">
            <a:extLst>
              <a:ext uri="{FF2B5EF4-FFF2-40B4-BE49-F238E27FC236}">
                <a16:creationId xmlns:a16="http://schemas.microsoft.com/office/drawing/2014/main" id="{857A0168-DBD5-47D4-A751-3B39262D8254}"/>
              </a:ext>
            </a:extLst>
          </p:cNvPr>
          <p:cNvSpPr/>
          <p:nvPr/>
        </p:nvSpPr>
        <p:spPr>
          <a:xfrm>
            <a:off x="8355283" y="836613"/>
            <a:ext cx="3307960" cy="5184775"/>
          </a:xfrm>
          <a:custGeom>
            <a:avLst/>
            <a:gdLst/>
            <a:ahLst/>
            <a:cxnLst/>
            <a:rect l="l" t="t" r="r" b="b"/>
            <a:pathLst>
              <a:path w="4010659" h="333375">
                <a:moveTo>
                  <a:pt x="0" y="333006"/>
                </a:moveTo>
                <a:lnTo>
                  <a:pt x="4010367" y="333006"/>
                </a:lnTo>
                <a:lnTo>
                  <a:pt x="4010367" y="0"/>
                </a:lnTo>
                <a:lnTo>
                  <a:pt x="0" y="0"/>
                </a:lnTo>
                <a:lnTo>
                  <a:pt x="0" y="33300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pPr rtl="0"/>
            <a:endParaRPr lang="pt-BR" dirty="0"/>
          </a:p>
        </p:txBody>
      </p:sp>
      <p:sp>
        <p:nvSpPr>
          <p:cNvPr id="6" name="objeto 6" descr="Retângulo azul">
            <a:extLst>
              <a:ext uri="{FF2B5EF4-FFF2-40B4-BE49-F238E27FC236}">
                <a16:creationId xmlns:a16="http://schemas.microsoft.com/office/drawing/2014/main" id="{7F009843-AFA3-44E8-B7D5-3F39B363C92E}"/>
              </a:ext>
            </a:extLst>
          </p:cNvPr>
          <p:cNvSpPr/>
          <p:nvPr/>
        </p:nvSpPr>
        <p:spPr>
          <a:xfrm>
            <a:off x="6256751" y="1"/>
            <a:ext cx="5056205" cy="6857999"/>
          </a:xfrm>
          <a:custGeom>
            <a:avLst/>
            <a:gdLst/>
            <a:ahLst/>
            <a:cxnLst/>
            <a:rect l="l" t="t" r="r" b="b"/>
            <a:pathLst>
              <a:path w="6689725" h="3528060">
                <a:moveTo>
                  <a:pt x="0" y="3527996"/>
                </a:moveTo>
                <a:lnTo>
                  <a:pt x="6689648" y="3527996"/>
                </a:lnTo>
                <a:lnTo>
                  <a:pt x="6689648" y="0"/>
                </a:lnTo>
                <a:lnTo>
                  <a:pt x="0" y="0"/>
                </a:lnTo>
                <a:lnTo>
                  <a:pt x="0" y="352799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pPr rtl="0"/>
            <a:endParaRPr lang="pt-BR" dirty="0"/>
          </a:p>
        </p:txBody>
      </p:sp>
      <p:sp>
        <p:nvSpPr>
          <p:cNvPr id="8" name="Espaço Reservado para Texto 3">
            <a:extLst>
              <a:ext uri="{FF2B5EF4-FFF2-40B4-BE49-F238E27FC236}">
                <a16:creationId xmlns:a16="http://schemas.microsoft.com/office/drawing/2014/main" id="{FC6730AE-386B-426F-9F29-221DCC5F714D}"/>
              </a:ext>
            </a:extLst>
          </p:cNvPr>
          <p:cNvSpPr txBox="1">
            <a:spLocks/>
          </p:cNvSpPr>
          <p:nvPr/>
        </p:nvSpPr>
        <p:spPr>
          <a:xfrm>
            <a:off x="7472818" y="2860146"/>
            <a:ext cx="2981822" cy="749753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buNone/>
            </a:pPr>
            <a:r>
              <a:rPr lang="pt-BR" sz="20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Índice de engajamento (via pesquisas)</a:t>
            </a:r>
          </a:p>
        </p:txBody>
      </p:sp>
      <p:pic>
        <p:nvPicPr>
          <p:cNvPr id="9" name="Espaço Reservado para Imagem 27" descr="Marca de seleção">
            <a:extLst>
              <a:ext uri="{FF2B5EF4-FFF2-40B4-BE49-F238E27FC236}">
                <a16:creationId xmlns:a16="http://schemas.microsoft.com/office/drawing/2014/main" id="{9FC370A7-FF9A-42B0-9C14-95C57A9BC6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40067" y="2803684"/>
            <a:ext cx="720000" cy="720000"/>
          </a:xfrm>
          <a:prstGeom prst="rect">
            <a:avLst/>
          </a:prstGeom>
        </p:spPr>
      </p:pic>
      <p:pic>
        <p:nvPicPr>
          <p:cNvPr id="10" name="Espaço Reservado para Imagem 29" descr="Marca de seleção">
            <a:extLst>
              <a:ext uri="{FF2B5EF4-FFF2-40B4-BE49-F238E27FC236}">
                <a16:creationId xmlns:a16="http://schemas.microsoft.com/office/drawing/2014/main" id="{1630545B-ED3D-48DD-8CD5-CB200AA2D7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40067" y="3693320"/>
            <a:ext cx="720000" cy="719999"/>
          </a:xfrm>
          <a:prstGeom prst="rect">
            <a:avLst/>
          </a:prstGeom>
        </p:spPr>
      </p:pic>
      <p:sp>
        <p:nvSpPr>
          <p:cNvPr id="11" name="Espaço Reservado para Texto 17">
            <a:extLst>
              <a:ext uri="{FF2B5EF4-FFF2-40B4-BE49-F238E27FC236}">
                <a16:creationId xmlns:a16="http://schemas.microsoft.com/office/drawing/2014/main" id="{186A1D66-9F36-434B-9677-0FE61760AB97}"/>
              </a:ext>
            </a:extLst>
          </p:cNvPr>
          <p:cNvSpPr txBox="1">
            <a:spLocks/>
          </p:cNvSpPr>
          <p:nvPr/>
        </p:nvSpPr>
        <p:spPr>
          <a:xfrm>
            <a:off x="7472817" y="3794464"/>
            <a:ext cx="3307960" cy="740184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buNone/>
            </a:pPr>
            <a:r>
              <a:rPr lang="pt-BR" sz="20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Taxa de participação nas ações internas</a:t>
            </a:r>
          </a:p>
        </p:txBody>
      </p:sp>
      <p:pic>
        <p:nvPicPr>
          <p:cNvPr id="12" name="Espaço Reservado para Imagem 31" descr="Marca de seleção">
            <a:extLst>
              <a:ext uri="{FF2B5EF4-FFF2-40B4-BE49-F238E27FC236}">
                <a16:creationId xmlns:a16="http://schemas.microsoft.com/office/drawing/2014/main" id="{33C53E5C-0A10-46F8-9546-AB2C675452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70643" y="4621055"/>
            <a:ext cx="720000" cy="719999"/>
          </a:xfrm>
          <a:prstGeom prst="rect">
            <a:avLst/>
          </a:prstGeom>
        </p:spPr>
      </p:pic>
      <p:sp>
        <p:nvSpPr>
          <p:cNvPr id="13" name="Espaço Reservado para Texto 19">
            <a:extLst>
              <a:ext uri="{FF2B5EF4-FFF2-40B4-BE49-F238E27FC236}">
                <a16:creationId xmlns:a16="http://schemas.microsoft.com/office/drawing/2014/main" id="{8744334E-DF9D-4600-8180-292072510183}"/>
              </a:ext>
            </a:extLst>
          </p:cNvPr>
          <p:cNvSpPr txBox="1">
            <a:spLocks/>
          </p:cNvSpPr>
          <p:nvPr/>
        </p:nvSpPr>
        <p:spPr>
          <a:xfrm>
            <a:off x="7503392" y="4704536"/>
            <a:ext cx="3098931" cy="1092964"/>
          </a:xfrm>
          <a:prstGeom prst="rect">
            <a:avLst/>
          </a:prstGeom>
        </p:spPr>
        <p:txBody>
          <a:bodyPr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buNone/>
            </a:pPr>
            <a:r>
              <a:rPr lang="pt-BR" sz="20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NPS interno</a:t>
            </a:r>
          </a:p>
        </p:txBody>
      </p:sp>
      <p:sp>
        <p:nvSpPr>
          <p:cNvPr id="14" name="objeto 27" descr="Retângulo bege">
            <a:extLst>
              <a:ext uri="{FF2B5EF4-FFF2-40B4-BE49-F238E27FC236}">
                <a16:creationId xmlns:a16="http://schemas.microsoft.com/office/drawing/2014/main" id="{7F820741-8871-4D59-8ED1-466FEFD2AF94}"/>
              </a:ext>
            </a:extLst>
          </p:cNvPr>
          <p:cNvSpPr/>
          <p:nvPr/>
        </p:nvSpPr>
        <p:spPr>
          <a:xfrm flipV="1">
            <a:off x="6892775" y="2384426"/>
            <a:ext cx="3727600" cy="75489"/>
          </a:xfrm>
          <a:custGeom>
            <a:avLst/>
            <a:gdLst/>
            <a:ahLst/>
            <a:cxnLst/>
            <a:rect l="l" t="t" r="r" b="b"/>
            <a:pathLst>
              <a:path w="2501265">
                <a:moveTo>
                  <a:pt x="0" y="0"/>
                </a:moveTo>
                <a:lnTo>
                  <a:pt x="2500883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pPr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5668119-9603-4701-8EEC-F2E48B808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354" y="1279525"/>
            <a:ext cx="4421229" cy="1325563"/>
          </a:xfrm>
        </p:spPr>
        <p:txBody>
          <a:bodyPr rtlCol="0"/>
          <a:lstStyle/>
          <a:p>
            <a:pPr rtl="0"/>
            <a:r>
              <a:rPr lang="pt-BR" dirty="0">
                <a:solidFill>
                  <a:schemeClr val="bg1"/>
                </a:solidFill>
              </a:rPr>
              <a:t>ENGAJAMENTO e</a:t>
            </a:r>
            <a:br>
              <a:rPr lang="pt-BR" dirty="0">
                <a:solidFill>
                  <a:schemeClr val="bg1"/>
                </a:solidFill>
              </a:rPr>
            </a:br>
            <a:r>
              <a:rPr lang="pt-BR" dirty="0">
                <a:solidFill>
                  <a:schemeClr val="bg1"/>
                </a:solidFill>
              </a:rPr>
              <a:t>Clima Organizacional</a:t>
            </a:r>
            <a:endParaRPr lang="pt-BR" dirty="0"/>
          </a:p>
        </p:txBody>
      </p:sp>
      <p:pic>
        <p:nvPicPr>
          <p:cNvPr id="18" name="Espaço Reservado para Imagem 31" descr="Marca de seleção">
            <a:extLst>
              <a:ext uri="{FF2B5EF4-FFF2-40B4-BE49-F238E27FC236}">
                <a16:creationId xmlns:a16="http://schemas.microsoft.com/office/drawing/2014/main" id="{4FA6F7DD-B144-4C00-9A1B-A5D8C561A9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40067" y="5454903"/>
            <a:ext cx="720000" cy="719999"/>
          </a:xfrm>
          <a:prstGeom prst="rect">
            <a:avLst/>
          </a:prstGeom>
        </p:spPr>
      </p:pic>
      <p:sp>
        <p:nvSpPr>
          <p:cNvPr id="19" name="Espaço Reservado para Texto 19">
            <a:extLst>
              <a:ext uri="{FF2B5EF4-FFF2-40B4-BE49-F238E27FC236}">
                <a16:creationId xmlns:a16="http://schemas.microsoft.com/office/drawing/2014/main" id="{7B487287-9CF7-48E0-B715-0AB0D4B41648}"/>
              </a:ext>
            </a:extLst>
          </p:cNvPr>
          <p:cNvSpPr txBox="1">
            <a:spLocks/>
          </p:cNvSpPr>
          <p:nvPr/>
        </p:nvSpPr>
        <p:spPr>
          <a:xfrm>
            <a:off x="7460067" y="5602435"/>
            <a:ext cx="3098931" cy="1092964"/>
          </a:xfrm>
          <a:prstGeom prst="rect">
            <a:avLst/>
          </a:prstGeom>
        </p:spPr>
        <p:txBody>
          <a:bodyPr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buNone/>
            </a:pPr>
            <a:r>
              <a:rPr lang="pt-BR" sz="20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Índice de confiança na liderança</a:t>
            </a:r>
          </a:p>
        </p:txBody>
      </p:sp>
    </p:spTree>
    <p:extLst>
      <p:ext uri="{BB962C8B-B14F-4D97-AF65-F5344CB8AC3E}">
        <p14:creationId xmlns:p14="http://schemas.microsoft.com/office/powerpoint/2010/main" val="3298964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C750891-B331-46E3-89A1-0996C3679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rtl="0"/>
            <a:r>
              <a:rPr lang="pt-BR" dirty="0"/>
              <a:t>Desenvolvimento e </a:t>
            </a:r>
            <a:br>
              <a:rPr lang="pt-BR" dirty="0"/>
            </a:br>
            <a:r>
              <a:rPr lang="pt-BR" dirty="0"/>
              <a:t>Capacitação</a:t>
            </a:r>
            <a:br>
              <a:rPr lang="pt-BR" dirty="0"/>
            </a:br>
            <a:endParaRPr lang="pt-BR" dirty="0"/>
          </a:p>
        </p:txBody>
      </p:sp>
      <p:sp>
        <p:nvSpPr>
          <p:cNvPr id="2" name="Espaço Reservado para o Número do Slide 1">
            <a:extLst>
              <a:ext uri="{FF2B5EF4-FFF2-40B4-BE49-F238E27FC236}">
                <a16:creationId xmlns:a16="http://schemas.microsoft.com/office/drawing/2014/main" id="{6EC5A228-0BB3-460B-97CB-3667DC43D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pt-BR" smtClean="0"/>
              <a:t>8</a:t>
            </a:fld>
            <a:endParaRPr lang="pt-BR" dirty="0"/>
          </a:p>
        </p:txBody>
      </p:sp>
      <p:sp>
        <p:nvSpPr>
          <p:cNvPr id="6" name="objeto 18" descr="Retângulo bege">
            <a:extLst>
              <a:ext uri="{FF2B5EF4-FFF2-40B4-BE49-F238E27FC236}">
                <a16:creationId xmlns:a16="http://schemas.microsoft.com/office/drawing/2014/main" id="{31A1F953-41C3-4B9E-9EA3-26087E184E71}"/>
              </a:ext>
            </a:extLst>
          </p:cNvPr>
          <p:cNvSpPr/>
          <p:nvPr/>
        </p:nvSpPr>
        <p:spPr>
          <a:xfrm flipV="1">
            <a:off x="942535" y="1291585"/>
            <a:ext cx="4633512" cy="45719"/>
          </a:xfrm>
          <a:custGeom>
            <a:avLst/>
            <a:gdLst/>
            <a:ahLst/>
            <a:cxnLst/>
            <a:rect l="l" t="t" r="r" b="b"/>
            <a:pathLst>
              <a:path w="3218815">
                <a:moveTo>
                  <a:pt x="0" y="0"/>
                </a:moveTo>
                <a:lnTo>
                  <a:pt x="3218395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pPr rtl="0"/>
            <a:endParaRPr lang="pt-BR" dirty="0"/>
          </a:p>
        </p:txBody>
      </p:sp>
      <p:graphicFrame>
        <p:nvGraphicFramePr>
          <p:cNvPr id="9" name="Espaço Reservado para Conteúdo 7">
            <a:extLst>
              <a:ext uri="{FF2B5EF4-FFF2-40B4-BE49-F238E27FC236}">
                <a16:creationId xmlns:a16="http://schemas.microsoft.com/office/drawing/2014/main" id="{7CEA469E-1569-405A-8AC4-983D41DB66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5208354"/>
              </p:ext>
            </p:extLst>
          </p:nvPr>
        </p:nvGraphicFramePr>
        <p:xfrm>
          <a:off x="1770185" y="1702054"/>
          <a:ext cx="8502526" cy="3975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2526">
                  <a:extLst>
                    <a:ext uri="{9D8B030D-6E8A-4147-A177-3AD203B41FA5}">
                      <a16:colId xmlns:a16="http://schemas.microsoft.com/office/drawing/2014/main" val="2120316286"/>
                    </a:ext>
                  </a:extLst>
                </a:gridCol>
              </a:tblGrid>
              <a:tr h="993933">
                <a:tc>
                  <a:txBody>
                    <a:bodyPr/>
                    <a:lstStyle/>
                    <a:p>
                      <a:pPr marL="227965" rtl="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lang="pt-br" sz="2400" b="1" spc="-10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cs typeface="Arial"/>
                        </a:rPr>
                        <a:t>Horas de treinamento do colaborador</a:t>
                      </a:r>
                      <a:endParaRPr lang="pt-br" sz="2400" b="1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104278"/>
                  </a:ext>
                </a:extLst>
              </a:tr>
              <a:tr h="993933">
                <a:tc>
                  <a:txBody>
                    <a:bodyPr/>
                    <a:lstStyle/>
                    <a:p>
                      <a:pPr marL="227965" rtl="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lang="pt-BR" sz="2400" b="1" spc="-3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Taxa de conclusão de cursos</a:t>
                      </a:r>
                      <a:endParaRPr sz="2400" b="1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273019"/>
                  </a:ext>
                </a:extLst>
              </a:tr>
              <a:tr h="993933">
                <a:tc>
                  <a:txBody>
                    <a:bodyPr/>
                    <a:lstStyle/>
                    <a:p>
                      <a:pPr marL="227965" rtl="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pt-br" sz="2400" b="1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ROI de programas de desenvolvimento</a:t>
                      </a:r>
                      <a:endParaRPr sz="2400" b="1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3928045"/>
                  </a:ext>
                </a:extLst>
              </a:tr>
              <a:tr h="993933">
                <a:tc>
                  <a:txBody>
                    <a:bodyPr/>
                    <a:lstStyle/>
                    <a:p>
                      <a:pPr marL="227965" rtl="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pt-br" sz="2400" b="1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Evolução de competências-chave</a:t>
                      </a:r>
                      <a:endParaRPr sz="2400" b="1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066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7733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6" descr="O homem fala por telefone">
            <a:extLst>
              <a:ext uri="{FF2B5EF4-FFF2-40B4-BE49-F238E27FC236}">
                <a16:creationId xmlns:a16="http://schemas.microsoft.com/office/drawing/2014/main" id="{EA4A3639-F9B9-4B3D-896B-128B8F77FA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5" name="objeto 3" descr="Retângulo azul">
            <a:extLst>
              <a:ext uri="{FF2B5EF4-FFF2-40B4-BE49-F238E27FC236}">
                <a16:creationId xmlns:a16="http://schemas.microsoft.com/office/drawing/2014/main" id="{3544D2CA-9A07-47BD-B1E4-88366F5FCD45}"/>
              </a:ext>
            </a:extLst>
          </p:cNvPr>
          <p:cNvSpPr/>
          <p:nvPr/>
        </p:nvSpPr>
        <p:spPr>
          <a:xfrm>
            <a:off x="1200" y="0"/>
            <a:ext cx="1219080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9999"/>
            </a:schemeClr>
          </a:solidFill>
        </p:spPr>
        <p:txBody>
          <a:bodyPr wrap="square" lIns="0" tIns="0" rIns="0" bIns="0" rtlCol="0"/>
          <a:lstStyle/>
          <a:p>
            <a:pPr rtl="0"/>
            <a:endParaRPr lang="pt-BR" dirty="0"/>
          </a:p>
        </p:txBody>
      </p:sp>
      <p:sp>
        <p:nvSpPr>
          <p:cNvPr id="6" name="Oval 5" descr="Oval bege">
            <a:extLst>
              <a:ext uri="{FF2B5EF4-FFF2-40B4-BE49-F238E27FC236}">
                <a16:creationId xmlns:a16="http://schemas.microsoft.com/office/drawing/2014/main" id="{7F1F7E6E-09DB-407E-9D0A-1AACE7719624}"/>
              </a:ext>
            </a:extLst>
          </p:cNvPr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60AF24A-ACB5-4319-9371-B0D71908A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702" y="566599"/>
            <a:ext cx="10515600" cy="1325563"/>
          </a:xfrm>
        </p:spPr>
        <p:txBody>
          <a:bodyPr rtlCol="0">
            <a:normAutofit/>
          </a:bodyPr>
          <a:lstStyle/>
          <a:p>
            <a:pPr rtl="0"/>
            <a:r>
              <a:rPr lang="pt-BR" dirty="0">
                <a:solidFill>
                  <a:schemeClr val="bg1"/>
                </a:solidFill>
              </a:rPr>
              <a:t>PRODUTIVIDADE e PERFORMANCE</a:t>
            </a:r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549181BA-BE91-4062-B6BE-B8C10EBD5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pt-BR" smtClean="0"/>
              <a:t>9</a:t>
            </a:fld>
            <a:endParaRPr lang="pt-BR" dirty="0"/>
          </a:p>
        </p:txBody>
      </p:sp>
      <p:graphicFrame>
        <p:nvGraphicFramePr>
          <p:cNvPr id="8" name="Espaço Reservado para Conteúdo 7">
            <a:extLst>
              <a:ext uri="{FF2B5EF4-FFF2-40B4-BE49-F238E27FC236}">
                <a16:creationId xmlns:a16="http://schemas.microsoft.com/office/drawing/2014/main" id="{59F17430-EB02-4E9E-9F5E-C086C9EB9A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68079151"/>
              </p:ext>
            </p:extLst>
          </p:nvPr>
        </p:nvGraphicFramePr>
        <p:xfrm>
          <a:off x="942535" y="2045026"/>
          <a:ext cx="9510592" cy="44488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10592">
                  <a:extLst>
                    <a:ext uri="{9D8B030D-6E8A-4147-A177-3AD203B41FA5}">
                      <a16:colId xmlns:a16="http://schemas.microsoft.com/office/drawing/2014/main" val="2120316286"/>
                    </a:ext>
                  </a:extLst>
                </a:gridCol>
              </a:tblGrid>
              <a:tr h="1013089">
                <a:tc>
                  <a:txBody>
                    <a:bodyPr/>
                    <a:lstStyle/>
                    <a:p>
                      <a:pPr marL="226800" rtl="0"/>
                      <a:r>
                        <a:rPr lang="pt-BR" sz="2800" b="1" noProof="0" dirty="0">
                          <a:solidFill>
                            <a:schemeClr val="tx2">
                              <a:alpha val="70000"/>
                            </a:schemeClr>
                          </a:solidFill>
                        </a:rPr>
                        <a:t>Avaliação de desempenho média</a:t>
                      </a:r>
                      <a:endParaRPr lang="pt-BR" sz="2800" b="1" noProof="0" dirty="0">
                        <a:solidFill>
                          <a:schemeClr val="tx2">
                            <a:alpha val="70000"/>
                          </a:schemeClr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886727"/>
                  </a:ext>
                </a:extLst>
              </a:tr>
              <a:tr h="1019954">
                <a:tc>
                  <a:txBody>
                    <a:bodyPr/>
                    <a:lstStyle/>
                    <a:p>
                      <a:pPr marL="2268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noProof="0" dirty="0">
                          <a:solidFill>
                            <a:schemeClr val="bg2">
                              <a:lumMod val="20000"/>
                              <a:lumOff val="80000"/>
                              <a:alpha val="70000"/>
                            </a:schemeClr>
                          </a:solidFill>
                        </a:rPr>
                        <a:t>Metas atingidas por equipe</a:t>
                      </a:r>
                      <a:endParaRPr lang="pt-BR" sz="2800" b="1" noProof="0" dirty="0">
                        <a:solidFill>
                          <a:schemeClr val="bg2">
                            <a:lumMod val="20000"/>
                            <a:lumOff val="80000"/>
                            <a:alpha val="70000"/>
                          </a:schemeClr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1228187"/>
                  </a:ext>
                </a:extLst>
              </a:tr>
              <a:tr h="1140652">
                <a:tc>
                  <a:txBody>
                    <a:bodyPr/>
                    <a:lstStyle/>
                    <a:p>
                      <a:pPr marL="2268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noProof="0" dirty="0">
                          <a:solidFill>
                            <a:schemeClr val="tx2">
                              <a:alpha val="70000"/>
                            </a:schemeClr>
                          </a:solidFill>
                        </a:rPr>
                        <a:t>Produtividade por colaborador</a:t>
                      </a:r>
                      <a:endParaRPr lang="pt-BR" sz="2800" b="1" noProof="0" dirty="0">
                        <a:solidFill>
                          <a:schemeClr val="tx2">
                            <a:alpha val="70000"/>
                          </a:schemeClr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273019"/>
                  </a:ext>
                </a:extLst>
              </a:tr>
              <a:tr h="1275110">
                <a:tc>
                  <a:txBody>
                    <a:bodyPr/>
                    <a:lstStyle/>
                    <a:p>
                      <a:pPr marL="2268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noProof="0" dirty="0">
                          <a:solidFill>
                            <a:schemeClr val="bg2">
                              <a:lumMod val="20000"/>
                              <a:lumOff val="80000"/>
                              <a:alpha val="70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Taxa de feedbacks realizados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928045"/>
                  </a:ext>
                </a:extLst>
              </a:tr>
            </a:tbl>
          </a:graphicData>
        </a:graphic>
      </p:graphicFrame>
      <p:sp>
        <p:nvSpPr>
          <p:cNvPr id="9" name="objeto 18" descr="Retângulo bege">
            <a:extLst>
              <a:ext uri="{FF2B5EF4-FFF2-40B4-BE49-F238E27FC236}">
                <a16:creationId xmlns:a16="http://schemas.microsoft.com/office/drawing/2014/main" id="{2D844B0B-BA7B-4E53-BCA1-628F65C6A4CA}"/>
              </a:ext>
            </a:extLst>
          </p:cNvPr>
          <p:cNvSpPr/>
          <p:nvPr/>
        </p:nvSpPr>
        <p:spPr>
          <a:xfrm>
            <a:off x="942534" y="1520456"/>
            <a:ext cx="7255167" cy="145875"/>
          </a:xfrm>
          <a:custGeom>
            <a:avLst/>
            <a:gdLst/>
            <a:ahLst/>
            <a:cxnLst/>
            <a:rect l="l" t="t" r="r" b="b"/>
            <a:pathLst>
              <a:path w="3218815">
                <a:moveTo>
                  <a:pt x="0" y="0"/>
                </a:moveTo>
                <a:lnTo>
                  <a:pt x="3218395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44704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Espaço Reservado para Imagem 14" descr="Aperto de mão de duas pessoas">
            <a:extLst>
              <a:ext uri="{FF2B5EF4-FFF2-40B4-BE49-F238E27FC236}">
                <a16:creationId xmlns:a16="http://schemas.microsoft.com/office/drawing/2014/main" id="{D4259A03-EF8A-4CCA-B199-F465AFDB5C52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7"/>
            <a:ext cx="12190800" cy="6857325"/>
          </a:xfrm>
        </p:spPr>
      </p:pic>
      <p:sp>
        <p:nvSpPr>
          <p:cNvPr id="35" name="objeto 3" descr="Retângulo azul">
            <a:extLst>
              <a:ext uri="{FF2B5EF4-FFF2-40B4-BE49-F238E27FC236}">
                <a16:creationId xmlns:a16="http://schemas.microsoft.com/office/drawing/2014/main" id="{9206F938-D64B-410D-BE2D-847D78F81E42}"/>
              </a:ext>
            </a:extLst>
          </p:cNvPr>
          <p:cNvSpPr/>
          <p:nvPr/>
        </p:nvSpPr>
        <p:spPr>
          <a:xfrm>
            <a:off x="1200" y="0"/>
            <a:ext cx="1219080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9999"/>
            </a:schemeClr>
          </a:solidFill>
        </p:spPr>
        <p:txBody>
          <a:bodyPr wrap="square" lIns="0" tIns="0" rIns="0" bIns="0" rtlCol="0"/>
          <a:lstStyle/>
          <a:p>
            <a:pPr rtl="0"/>
            <a:endParaRPr lang="pt-BR" dirty="0"/>
          </a:p>
        </p:txBody>
      </p:sp>
      <p:sp>
        <p:nvSpPr>
          <p:cNvPr id="48" name="Oval 47" descr="Oval bege">
            <a:extLst>
              <a:ext uri="{FF2B5EF4-FFF2-40B4-BE49-F238E27FC236}">
                <a16:creationId xmlns:a16="http://schemas.microsoft.com/office/drawing/2014/main" id="{7799BEE8-A94D-443E-9846-2D1F32C57944}"/>
              </a:ext>
            </a:extLst>
          </p:cNvPr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6" name="Retângulo 25" descr="Retângulo azul">
            <a:extLst>
              <a:ext uri="{FF2B5EF4-FFF2-40B4-BE49-F238E27FC236}">
                <a16:creationId xmlns:a16="http://schemas.microsoft.com/office/drawing/2014/main" id="{B743B096-6BB3-4330-9D5B-22EEBAF87BEE}"/>
              </a:ext>
            </a:extLst>
          </p:cNvPr>
          <p:cNvSpPr/>
          <p:nvPr/>
        </p:nvSpPr>
        <p:spPr>
          <a:xfrm>
            <a:off x="0" y="1892595"/>
            <a:ext cx="12192000" cy="396467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F1CE755E-A3DE-48FA-953D-4B2CFF013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699" y="6174902"/>
            <a:ext cx="357116" cy="365125"/>
          </a:xfrm>
        </p:spPr>
        <p:txBody>
          <a:bodyPr rtlCol="0"/>
          <a:lstStyle/>
          <a:p>
            <a:pPr rtl="0"/>
            <a:fld id="{82EE24B5-652C-4DB5-B7C3-B5BBEC1280B1}" type="slidenum">
              <a:rPr lang="pt-BR" smtClean="0"/>
              <a:t>10</a:t>
            </a:fld>
            <a:endParaRPr lang="pt-BR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0558CBCC-46BE-4654-9B01-07B35CF17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292" y="365125"/>
            <a:ext cx="10515600" cy="1325563"/>
          </a:xfrm>
        </p:spPr>
        <p:txBody>
          <a:bodyPr rtlCol="0"/>
          <a:lstStyle/>
          <a:p>
            <a:pPr rtl="0"/>
            <a:r>
              <a:rPr lang="pt-BR" dirty="0">
                <a:solidFill>
                  <a:schemeClr val="bg1"/>
                </a:solidFill>
              </a:rPr>
              <a:t>RETENÇÃO DE TALENTOS</a:t>
            </a:r>
          </a:p>
        </p:txBody>
      </p:sp>
      <p:sp>
        <p:nvSpPr>
          <p:cNvPr id="49" name="objeto 6" descr="Retângulo bege">
            <a:extLst>
              <a:ext uri="{FF2B5EF4-FFF2-40B4-BE49-F238E27FC236}">
                <a16:creationId xmlns:a16="http://schemas.microsoft.com/office/drawing/2014/main" id="{E67B2D0F-2920-4165-BC82-05237362DABB}"/>
              </a:ext>
            </a:extLst>
          </p:cNvPr>
          <p:cNvSpPr/>
          <p:nvPr/>
        </p:nvSpPr>
        <p:spPr>
          <a:xfrm>
            <a:off x="915047" y="1332833"/>
            <a:ext cx="5390060" cy="94434"/>
          </a:xfrm>
          <a:custGeom>
            <a:avLst/>
            <a:gdLst/>
            <a:ahLst/>
            <a:cxnLst/>
            <a:rect l="l" t="t" r="r" b="b"/>
            <a:pathLst>
              <a:path w="1934210">
                <a:moveTo>
                  <a:pt x="0" y="0"/>
                </a:moveTo>
                <a:lnTo>
                  <a:pt x="1933600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pPr rtl="0"/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B2F42BF-D7B3-44EC-B189-B5E6472F4CF0}"/>
              </a:ext>
            </a:extLst>
          </p:cNvPr>
          <p:cNvSpPr txBox="1"/>
          <p:nvPr/>
        </p:nvSpPr>
        <p:spPr>
          <a:xfrm>
            <a:off x="680484" y="2147777"/>
            <a:ext cx="1065940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pt-BR" sz="2800" b="1" dirty="0">
                <a:solidFill>
                  <a:srgbClr val="FFC000"/>
                </a:solidFill>
              </a:rPr>
              <a:t>Taxa de turnover voluntário</a:t>
            </a:r>
          </a:p>
          <a:p>
            <a:pPr marL="285750" indent="-285750">
              <a:buFontTx/>
              <a:buChar char="-"/>
            </a:pPr>
            <a:endParaRPr lang="pt-BR" sz="2800" b="1" dirty="0">
              <a:solidFill>
                <a:srgbClr val="FFC000"/>
              </a:solidFill>
            </a:endParaRPr>
          </a:p>
          <a:p>
            <a:pPr marL="285750" indent="-285750">
              <a:buFontTx/>
              <a:buChar char="-"/>
            </a:pPr>
            <a:r>
              <a:rPr lang="pt-BR" sz="2800" b="1" dirty="0">
                <a:solidFill>
                  <a:srgbClr val="FFC000"/>
                </a:solidFill>
              </a:rPr>
              <a:t>Tempo médio de permanência</a:t>
            </a:r>
          </a:p>
          <a:p>
            <a:pPr marL="285750" indent="-285750">
              <a:buFontTx/>
              <a:buChar char="-"/>
            </a:pPr>
            <a:endParaRPr lang="pt-BR" sz="2800" b="1" dirty="0">
              <a:solidFill>
                <a:srgbClr val="FFC000"/>
              </a:solidFill>
            </a:endParaRPr>
          </a:p>
          <a:p>
            <a:pPr marL="285750" indent="-285750">
              <a:buFontTx/>
              <a:buChar char="-"/>
            </a:pPr>
            <a:r>
              <a:rPr lang="pt-BR" sz="2800" b="1" dirty="0">
                <a:solidFill>
                  <a:srgbClr val="FFC000"/>
                </a:solidFill>
              </a:rPr>
              <a:t>Motivos de desligamento</a:t>
            </a:r>
          </a:p>
          <a:p>
            <a:pPr marL="285750" indent="-285750">
              <a:buFontTx/>
              <a:buChar char="-"/>
            </a:pPr>
            <a:endParaRPr lang="pt-BR" sz="2800" b="1" dirty="0">
              <a:solidFill>
                <a:srgbClr val="FFC000"/>
              </a:solidFill>
            </a:endParaRPr>
          </a:p>
          <a:p>
            <a:pPr marL="285750" indent="-285750">
              <a:buFontTx/>
              <a:buChar char="-"/>
            </a:pPr>
            <a:r>
              <a:rPr lang="pt-BR" sz="2800" b="1" dirty="0">
                <a:solidFill>
                  <a:srgbClr val="FFC000"/>
                </a:solidFill>
              </a:rPr>
              <a:t>Taxa de retenção de talentos estratégicos</a:t>
            </a:r>
          </a:p>
        </p:txBody>
      </p:sp>
    </p:spTree>
    <p:extLst>
      <p:ext uri="{BB962C8B-B14F-4D97-AF65-F5344CB8AC3E}">
        <p14:creationId xmlns:p14="http://schemas.microsoft.com/office/powerpoint/2010/main" val="1065904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C750891-B331-46E3-89A1-0996C3679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pt-BR" dirty="0"/>
              <a:t>Absenteísmo e Presenteísmo</a:t>
            </a:r>
            <a:br>
              <a:rPr lang="pt-BR" dirty="0"/>
            </a:br>
            <a:endParaRPr lang="pt-BR" dirty="0"/>
          </a:p>
        </p:txBody>
      </p:sp>
      <p:sp>
        <p:nvSpPr>
          <p:cNvPr id="2" name="Espaço Reservado para o Número do Slide 1">
            <a:extLst>
              <a:ext uri="{FF2B5EF4-FFF2-40B4-BE49-F238E27FC236}">
                <a16:creationId xmlns:a16="http://schemas.microsoft.com/office/drawing/2014/main" id="{6EC5A228-0BB3-460B-97CB-3667DC43D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pt-BR" smtClean="0"/>
              <a:t>11</a:t>
            </a:fld>
            <a:endParaRPr lang="pt-BR" dirty="0"/>
          </a:p>
        </p:txBody>
      </p:sp>
      <p:sp>
        <p:nvSpPr>
          <p:cNvPr id="6" name="objeto 18" descr="Retângulo bege">
            <a:extLst>
              <a:ext uri="{FF2B5EF4-FFF2-40B4-BE49-F238E27FC236}">
                <a16:creationId xmlns:a16="http://schemas.microsoft.com/office/drawing/2014/main" id="{31A1F953-41C3-4B9E-9EA3-26087E184E71}"/>
              </a:ext>
            </a:extLst>
          </p:cNvPr>
          <p:cNvSpPr/>
          <p:nvPr/>
        </p:nvSpPr>
        <p:spPr>
          <a:xfrm flipV="1">
            <a:off x="942534" y="1180214"/>
            <a:ext cx="5500795" cy="157090"/>
          </a:xfrm>
          <a:custGeom>
            <a:avLst/>
            <a:gdLst/>
            <a:ahLst/>
            <a:cxnLst/>
            <a:rect l="l" t="t" r="r" b="b"/>
            <a:pathLst>
              <a:path w="3218815">
                <a:moveTo>
                  <a:pt x="0" y="0"/>
                </a:moveTo>
                <a:lnTo>
                  <a:pt x="3218395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pPr rtl="0"/>
            <a:endParaRPr lang="pt-BR" dirty="0"/>
          </a:p>
        </p:txBody>
      </p:sp>
      <p:graphicFrame>
        <p:nvGraphicFramePr>
          <p:cNvPr id="9" name="Espaço Reservado para Conteúdo 7">
            <a:extLst>
              <a:ext uri="{FF2B5EF4-FFF2-40B4-BE49-F238E27FC236}">
                <a16:creationId xmlns:a16="http://schemas.microsoft.com/office/drawing/2014/main" id="{7CEA469E-1569-405A-8AC4-983D41DB66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7150095"/>
              </p:ext>
            </p:extLst>
          </p:nvPr>
        </p:nvGraphicFramePr>
        <p:xfrm>
          <a:off x="1770185" y="1702054"/>
          <a:ext cx="8502526" cy="3975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2526">
                  <a:extLst>
                    <a:ext uri="{9D8B030D-6E8A-4147-A177-3AD203B41FA5}">
                      <a16:colId xmlns:a16="http://schemas.microsoft.com/office/drawing/2014/main" val="2120316286"/>
                    </a:ext>
                  </a:extLst>
                </a:gridCol>
              </a:tblGrid>
              <a:tr h="993933">
                <a:tc>
                  <a:txBody>
                    <a:bodyPr/>
                    <a:lstStyle/>
                    <a:p>
                      <a:pPr marL="227965" rtl="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lang="pt-br" sz="2400" b="1" spc="-10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cs typeface="Arial"/>
                        </a:rPr>
                        <a:t>Taxa de absenteísmo por área</a:t>
                      </a:r>
                      <a:endParaRPr lang="pt-br" sz="2400" b="1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104278"/>
                  </a:ext>
                </a:extLst>
              </a:tr>
              <a:tr h="993933">
                <a:tc>
                  <a:txBody>
                    <a:bodyPr/>
                    <a:lstStyle/>
                    <a:p>
                      <a:pPr marL="227965" rtl="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lang="pt-BR" sz="2400" b="1" spc="-3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Dias perdidos por colaborador</a:t>
                      </a:r>
                      <a:endParaRPr sz="2400" b="1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273019"/>
                  </a:ext>
                </a:extLst>
              </a:tr>
              <a:tr h="993933">
                <a:tc>
                  <a:txBody>
                    <a:bodyPr/>
                    <a:lstStyle/>
                    <a:p>
                      <a:pPr marL="227965" rtl="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pt-br" sz="2400" b="1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Índice de presenteísmo (baixa produtividade presente)</a:t>
                      </a:r>
                      <a:endParaRPr sz="2400" b="1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3928045"/>
                  </a:ext>
                </a:extLst>
              </a:tr>
              <a:tr h="993933">
                <a:tc>
                  <a:txBody>
                    <a:bodyPr/>
                    <a:lstStyle/>
                    <a:p>
                      <a:pPr marL="227965" rtl="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pt-br" sz="2400" b="1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Impacto financeiro do absenteísmo</a:t>
                      </a:r>
                      <a:endParaRPr sz="2400" b="1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066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2115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F54379-12DC-488A-96E2-264D244A3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587" y="438224"/>
            <a:ext cx="3932237" cy="1302111"/>
          </a:xfrm>
        </p:spPr>
        <p:txBody>
          <a:bodyPr rtlCol="0"/>
          <a:lstStyle/>
          <a:p>
            <a:pPr rtl="0"/>
            <a:r>
              <a:rPr lang="pt-BR" dirty="0"/>
              <a:t>Diversidade e Inclusão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8397F9A-0355-4091-BDD7-5C578348C1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98623" y="1947105"/>
            <a:ext cx="4505012" cy="1431234"/>
          </a:xfrm>
        </p:spPr>
        <p:txBody>
          <a:bodyPr rtlCol="0">
            <a:normAutofit/>
          </a:bodyPr>
          <a:lstStyle/>
          <a:p>
            <a:pPr rtl="0">
              <a:lnSpc>
                <a:spcPct val="110000"/>
              </a:lnSpc>
              <a:spcBef>
                <a:spcPts val="400"/>
              </a:spcBef>
            </a:pPr>
            <a:r>
              <a:rPr lang="pt-BR" sz="2200" b="1" dirty="0">
                <a:solidFill>
                  <a:schemeClr val="bg1"/>
                </a:solidFill>
                <a:latin typeface="+mj-lt"/>
              </a:rPr>
              <a:t>Taxa de promoção de grupos sub-representações</a:t>
            </a:r>
            <a:endParaRPr lang="pt-BR" sz="1500" i="1" spc="-15" dirty="0">
              <a:solidFill>
                <a:schemeClr val="bg2">
                  <a:lumMod val="20000"/>
                  <a:lumOff val="80000"/>
                </a:schemeClr>
              </a:solidFill>
              <a:cs typeface="Arial"/>
            </a:endParaRP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1330DBC9-EEFC-416D-BFAD-DB6D1A9E8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338" y="6174902"/>
            <a:ext cx="357116" cy="365125"/>
          </a:xfrm>
        </p:spPr>
        <p:txBody>
          <a:bodyPr rtlCol="0"/>
          <a:lstStyle/>
          <a:p>
            <a:pPr algn="just" rtl="0"/>
            <a:fld id="{82EE24B5-652C-4DB5-B7C3-B5BBEC1280B1}" type="slidenum">
              <a:rPr lang="pt-BR" smtClean="0"/>
              <a:pPr algn="just" rtl="0"/>
              <a:t>12</a:t>
            </a:fld>
            <a:endParaRPr lang="pt-BR" dirty="0"/>
          </a:p>
        </p:txBody>
      </p:sp>
      <p:pic>
        <p:nvPicPr>
          <p:cNvPr id="16" name="Espaço Reservado para Imagem 15" descr="Grupo de pessoas">
            <a:extLst>
              <a:ext uri="{FF2B5EF4-FFF2-40B4-BE49-F238E27FC236}">
                <a16:creationId xmlns:a16="http://schemas.microsoft.com/office/drawing/2014/main" id="{48FA199D-A4E2-45BF-978A-675A900780A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81319"/>
            <a:ext cx="6024562" cy="2736709"/>
          </a:xfrm>
        </p:spPr>
      </p:pic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0D9263D0-7B10-45A1-AD9E-D040B170EFE2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7140007" y="3223256"/>
            <a:ext cx="4422244" cy="1648628"/>
          </a:xfrm>
        </p:spPr>
        <p:txBody>
          <a:bodyPr rtlCol="0">
            <a:normAutofit/>
          </a:bodyPr>
          <a:lstStyle/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pt-BR" sz="2200" b="1" dirty="0">
                <a:solidFill>
                  <a:schemeClr val="bg1"/>
                </a:solidFill>
                <a:latin typeface="+mj-lt"/>
              </a:rPr>
              <a:t>Participação em programas de inclusão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9884D43A-F693-45B5-941E-26162517B9A6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7046600" y="4627653"/>
            <a:ext cx="4505012" cy="1912373"/>
          </a:xfrm>
        </p:spPr>
        <p:txBody>
          <a:bodyPr rtlCol="0">
            <a:normAutofit/>
          </a:bodyPr>
          <a:lstStyle/>
          <a:p>
            <a:pPr rtl="0">
              <a:lnSpc>
                <a:spcPct val="110000"/>
              </a:lnSpc>
              <a:spcBef>
                <a:spcPts val="400"/>
              </a:spcBef>
            </a:pPr>
            <a:r>
              <a:rPr lang="pt-BR" sz="2200" b="1" dirty="0">
                <a:solidFill>
                  <a:schemeClr val="bg1"/>
                </a:solidFill>
                <a:latin typeface="+mj-lt"/>
              </a:rPr>
              <a:t>Índice de percepção de inclusão (via pesquisa)</a:t>
            </a:r>
            <a:endParaRPr lang="pt-BR" sz="1500" i="1" spc="-15" dirty="0">
              <a:solidFill>
                <a:schemeClr val="bg2">
                  <a:lumMod val="20000"/>
                  <a:lumOff val="80000"/>
                </a:schemeClr>
              </a:solidFill>
              <a:cs typeface="Arial"/>
            </a:endParaRPr>
          </a:p>
        </p:txBody>
      </p:sp>
      <p:pic>
        <p:nvPicPr>
          <p:cNvPr id="11" name="Espaço Reservado para Imagem 14" descr="Ícone de verificação">
            <a:extLst>
              <a:ext uri="{FF2B5EF4-FFF2-40B4-BE49-F238E27FC236}">
                <a16:creationId xmlns:a16="http://schemas.microsoft.com/office/drawing/2014/main" id="{380A2BFD-1794-4338-8BAC-66A30B88D033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60547" y="1985576"/>
            <a:ext cx="576000" cy="576000"/>
          </a:xfrm>
        </p:spPr>
      </p:pic>
      <p:pic>
        <p:nvPicPr>
          <p:cNvPr id="12" name="Espaço Reservado para Imagem 16" descr="Ícone de verificação">
            <a:extLst>
              <a:ext uri="{FF2B5EF4-FFF2-40B4-BE49-F238E27FC236}">
                <a16:creationId xmlns:a16="http://schemas.microsoft.com/office/drawing/2014/main" id="{AC1F4E71-E6F8-490B-A9E9-61DC2025EBEE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81239" y="3204484"/>
            <a:ext cx="576000" cy="576001"/>
          </a:xfrm>
        </p:spPr>
      </p:pic>
      <p:pic>
        <p:nvPicPr>
          <p:cNvPr id="13" name="Espaço Reservado para Imagem 18" descr="Ícone de verificação">
            <a:extLst>
              <a:ext uri="{FF2B5EF4-FFF2-40B4-BE49-F238E27FC236}">
                <a16:creationId xmlns:a16="http://schemas.microsoft.com/office/drawing/2014/main" id="{138322BF-F85B-4C19-9968-C0582151091B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81239" y="4558201"/>
            <a:ext cx="576000" cy="576001"/>
          </a:xfrm>
        </p:spPr>
      </p:pic>
      <p:sp>
        <p:nvSpPr>
          <p:cNvPr id="14" name="objeto 13" descr="Retângulo bege">
            <a:extLst>
              <a:ext uri="{FF2B5EF4-FFF2-40B4-BE49-F238E27FC236}">
                <a16:creationId xmlns:a16="http://schemas.microsoft.com/office/drawing/2014/main" id="{FEBB8673-0A72-4C5C-8239-7EF600504010}"/>
              </a:ext>
            </a:extLst>
          </p:cNvPr>
          <p:cNvSpPr/>
          <p:nvPr/>
        </p:nvSpPr>
        <p:spPr>
          <a:xfrm>
            <a:off x="915657" y="1732552"/>
            <a:ext cx="3589668" cy="45719"/>
          </a:xfrm>
          <a:custGeom>
            <a:avLst/>
            <a:gdLst/>
            <a:ahLst/>
            <a:cxnLst/>
            <a:rect l="l" t="t" r="r" b="b"/>
            <a:pathLst>
              <a:path w="2694304">
                <a:moveTo>
                  <a:pt x="0" y="0"/>
                </a:moveTo>
                <a:lnTo>
                  <a:pt x="2694127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pPr rtl="0"/>
            <a:endParaRPr lang="pt-BR" dirty="0"/>
          </a:p>
        </p:txBody>
      </p:sp>
      <p:pic>
        <p:nvPicPr>
          <p:cNvPr id="15" name="Espaço Reservado para Imagem 14" descr="Ícone de verificação">
            <a:extLst>
              <a:ext uri="{FF2B5EF4-FFF2-40B4-BE49-F238E27FC236}">
                <a16:creationId xmlns:a16="http://schemas.microsoft.com/office/drawing/2014/main" id="{3C5659A5-B202-4F8C-BD05-4D7990EDCF67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81239" y="641454"/>
            <a:ext cx="576000" cy="576000"/>
          </a:xfrm>
          <a:prstGeom prst="rect">
            <a:avLst/>
          </a:prstGeom>
        </p:spPr>
      </p:pic>
      <p:sp>
        <p:nvSpPr>
          <p:cNvPr id="17" name="Espaço Reservado para Texto 2">
            <a:extLst>
              <a:ext uri="{FF2B5EF4-FFF2-40B4-BE49-F238E27FC236}">
                <a16:creationId xmlns:a16="http://schemas.microsoft.com/office/drawing/2014/main" id="{19DC2EBA-4E36-4BFC-AA42-8E0E84EF528E}"/>
              </a:ext>
            </a:extLst>
          </p:cNvPr>
          <p:cNvSpPr txBox="1">
            <a:spLocks/>
          </p:cNvSpPr>
          <p:nvPr/>
        </p:nvSpPr>
        <p:spPr>
          <a:xfrm>
            <a:off x="7057239" y="641453"/>
            <a:ext cx="4505012" cy="14312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pt-BR" sz="2200" b="1" dirty="0">
                <a:solidFill>
                  <a:schemeClr val="bg1"/>
                </a:solidFill>
                <a:latin typeface="+mj-lt"/>
              </a:rPr>
              <a:t>Representatividade por gênero, raça e idade</a:t>
            </a:r>
            <a:endParaRPr lang="pt-BR" sz="1500" i="1" spc="-15" dirty="0">
              <a:solidFill>
                <a:schemeClr val="bg2">
                  <a:lumMod val="20000"/>
                  <a:lumOff val="80000"/>
                </a:schemeClr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6756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13" descr="As pessoas procuram o documento">
            <a:extLst>
              <a:ext uri="{FF2B5EF4-FFF2-40B4-BE49-F238E27FC236}">
                <a16:creationId xmlns:a16="http://schemas.microsoft.com/office/drawing/2014/main" id="{3473867A-FBFD-45C7-BD5B-FDE711A8EC8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objeto 3" descr="Retângulo azul">
            <a:extLst>
              <a:ext uri="{FF2B5EF4-FFF2-40B4-BE49-F238E27FC236}">
                <a16:creationId xmlns:a16="http://schemas.microsoft.com/office/drawing/2014/main" id="{33BB357B-B238-4C43-8242-F33D9E1D4905}"/>
              </a:ext>
            </a:extLst>
          </p:cNvPr>
          <p:cNvSpPr/>
          <p:nvPr/>
        </p:nvSpPr>
        <p:spPr>
          <a:xfrm>
            <a:off x="1200" y="0"/>
            <a:ext cx="1218960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9999"/>
            </a:schemeClr>
          </a:solidFill>
        </p:spPr>
        <p:txBody>
          <a:bodyPr wrap="square" lIns="0" tIns="0" rIns="0" bIns="0" rtlCol="0"/>
          <a:lstStyle/>
          <a:p>
            <a:pPr rtl="0"/>
            <a:endParaRPr lang="pt-BR" dirty="0"/>
          </a:p>
        </p:txBody>
      </p:sp>
      <p:sp>
        <p:nvSpPr>
          <p:cNvPr id="7" name="Oval 6" descr="Oval bege">
            <a:extLst>
              <a:ext uri="{FF2B5EF4-FFF2-40B4-BE49-F238E27FC236}">
                <a16:creationId xmlns:a16="http://schemas.microsoft.com/office/drawing/2014/main" id="{5E8475D7-5EB4-4E70-AD4D-D32B1FB40E6E}"/>
              </a:ext>
            </a:extLst>
          </p:cNvPr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9" name="Oval 28" descr="Círculo branco">
            <a:extLst>
              <a:ext uri="{FF2B5EF4-FFF2-40B4-BE49-F238E27FC236}">
                <a16:creationId xmlns:a16="http://schemas.microsoft.com/office/drawing/2014/main" id="{103ABA59-6ED8-4FA4-A25B-9B8C475CCBCF}"/>
              </a:ext>
            </a:extLst>
          </p:cNvPr>
          <p:cNvSpPr/>
          <p:nvPr/>
        </p:nvSpPr>
        <p:spPr>
          <a:xfrm>
            <a:off x="3665866" y="1611824"/>
            <a:ext cx="4494508" cy="449450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9" name="Título 18">
            <a:extLst>
              <a:ext uri="{FF2B5EF4-FFF2-40B4-BE49-F238E27FC236}">
                <a16:creationId xmlns:a16="http://schemas.microsoft.com/office/drawing/2014/main" id="{592443CF-1BB0-4648-AEBA-9AFB75D72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>
                <a:solidFill>
                  <a:schemeClr val="bg1"/>
                </a:solidFill>
              </a:rPr>
              <a:t>CULTURA ORGANIZACIONAL</a:t>
            </a:r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1F16D174-C1FB-4494-B78F-EFF7C645A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886" y="6174902"/>
            <a:ext cx="357116" cy="365125"/>
          </a:xfrm>
        </p:spPr>
        <p:txBody>
          <a:bodyPr rtlCol="0"/>
          <a:lstStyle/>
          <a:p>
            <a:pPr rtl="0"/>
            <a:fld id="{82EE24B5-652C-4DB5-B7C3-B5BBEC1280B1}" type="slidenum">
              <a:rPr lang="pt-BR" smtClean="0"/>
              <a:t>13</a:t>
            </a:fld>
            <a:endParaRPr lang="pt-BR" dirty="0"/>
          </a:p>
        </p:txBody>
      </p:sp>
      <p:sp>
        <p:nvSpPr>
          <p:cNvPr id="9" name="objeto 5" descr="Retângulo bege">
            <a:extLst>
              <a:ext uri="{FF2B5EF4-FFF2-40B4-BE49-F238E27FC236}">
                <a16:creationId xmlns:a16="http://schemas.microsoft.com/office/drawing/2014/main" id="{3C19A568-7E73-443A-A183-2C3EDA0087DF}"/>
              </a:ext>
            </a:extLst>
          </p:cNvPr>
          <p:cNvSpPr/>
          <p:nvPr/>
        </p:nvSpPr>
        <p:spPr>
          <a:xfrm flipV="1">
            <a:off x="958668" y="1280073"/>
            <a:ext cx="6547031" cy="45719"/>
          </a:xfrm>
          <a:custGeom>
            <a:avLst/>
            <a:gdLst/>
            <a:ahLst/>
            <a:cxnLst/>
            <a:rect l="l" t="t" r="r" b="b"/>
            <a:pathLst>
              <a:path w="3931920">
                <a:moveTo>
                  <a:pt x="0" y="0"/>
                </a:moveTo>
                <a:lnTo>
                  <a:pt x="3931920" y="0"/>
                </a:lnTo>
              </a:path>
            </a:pathLst>
          </a:custGeom>
          <a:ln w="54864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pPr rtl="0"/>
            <a:endParaRPr lang="pt-BR" dirty="0"/>
          </a:p>
        </p:txBody>
      </p:sp>
      <p:graphicFrame>
        <p:nvGraphicFramePr>
          <p:cNvPr id="20" name="Espaço Reservado para Conteúdo 24" descr="Gráfico">
            <a:extLst>
              <a:ext uri="{FF2B5EF4-FFF2-40B4-BE49-F238E27FC236}">
                <a16:creationId xmlns:a16="http://schemas.microsoft.com/office/drawing/2014/main" id="{ADF6246A-0EC1-4DCB-9145-E3BF493B45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2682958"/>
              </p:ext>
            </p:extLst>
          </p:nvPr>
        </p:nvGraphicFramePr>
        <p:xfrm>
          <a:off x="2337277" y="1699285"/>
          <a:ext cx="7151687" cy="43195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objeto 7">
            <a:extLst>
              <a:ext uri="{FF2B5EF4-FFF2-40B4-BE49-F238E27FC236}">
                <a16:creationId xmlns:a16="http://schemas.microsoft.com/office/drawing/2014/main" id="{7B7E030C-3F6F-4826-AEC5-FCEC515A0796}"/>
              </a:ext>
            </a:extLst>
          </p:cNvPr>
          <p:cNvSpPr txBox="1"/>
          <p:nvPr/>
        </p:nvSpPr>
        <p:spPr>
          <a:xfrm>
            <a:off x="8750984" y="2469616"/>
            <a:ext cx="2553268" cy="813043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algn="r">
              <a:spcBef>
                <a:spcPts val="340"/>
              </a:spcBef>
            </a:pPr>
            <a:r>
              <a:rPr lang="pt-BR" sz="2500" b="1" dirty="0">
                <a:solidFill>
                  <a:schemeClr val="bg1"/>
                </a:solidFill>
                <a:latin typeface="+mj-lt"/>
              </a:rPr>
              <a:t>Participação em eventos culturais</a:t>
            </a:r>
          </a:p>
        </p:txBody>
      </p:sp>
      <p:sp>
        <p:nvSpPr>
          <p:cNvPr id="22" name="objeto 8">
            <a:extLst>
              <a:ext uri="{FF2B5EF4-FFF2-40B4-BE49-F238E27FC236}">
                <a16:creationId xmlns:a16="http://schemas.microsoft.com/office/drawing/2014/main" id="{C2065C42-E359-4176-85AC-B337EC4D788C}"/>
              </a:ext>
            </a:extLst>
          </p:cNvPr>
          <p:cNvSpPr txBox="1"/>
          <p:nvPr/>
        </p:nvSpPr>
        <p:spPr>
          <a:xfrm>
            <a:off x="933924" y="4946920"/>
            <a:ext cx="2467643" cy="1197764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spcBef>
                <a:spcPts val="425"/>
              </a:spcBef>
            </a:pPr>
            <a:r>
              <a:rPr lang="pt-BR" sz="2500" b="1" dirty="0">
                <a:solidFill>
                  <a:schemeClr val="bg1"/>
                </a:solidFill>
                <a:latin typeface="+mj-lt"/>
              </a:rPr>
              <a:t>Taxa de Adesão a valores organizacionais</a:t>
            </a:r>
          </a:p>
        </p:txBody>
      </p:sp>
      <p:sp>
        <p:nvSpPr>
          <p:cNvPr id="23" name="objeto 9">
            <a:extLst>
              <a:ext uri="{FF2B5EF4-FFF2-40B4-BE49-F238E27FC236}">
                <a16:creationId xmlns:a16="http://schemas.microsoft.com/office/drawing/2014/main" id="{DDB21112-A270-432B-831F-754FDCDD78AF}"/>
              </a:ext>
            </a:extLst>
          </p:cNvPr>
          <p:cNvSpPr txBox="1"/>
          <p:nvPr/>
        </p:nvSpPr>
        <p:spPr>
          <a:xfrm>
            <a:off x="8794214" y="4946920"/>
            <a:ext cx="3047787" cy="813043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algn="r">
              <a:spcBef>
                <a:spcPts val="340"/>
              </a:spcBef>
            </a:pPr>
            <a:r>
              <a:rPr lang="pt-BR" sz="2500" b="1" dirty="0">
                <a:solidFill>
                  <a:schemeClr val="bg1"/>
                </a:solidFill>
                <a:latin typeface="+mj-lt"/>
              </a:rPr>
              <a:t>Índice de orgulho de pertencer</a:t>
            </a:r>
          </a:p>
        </p:txBody>
      </p:sp>
      <p:sp>
        <p:nvSpPr>
          <p:cNvPr id="24" name="objeto 7">
            <a:extLst>
              <a:ext uri="{FF2B5EF4-FFF2-40B4-BE49-F238E27FC236}">
                <a16:creationId xmlns:a16="http://schemas.microsoft.com/office/drawing/2014/main" id="{744CC3A9-45E2-428E-ADA6-C50C9327E9C9}"/>
              </a:ext>
            </a:extLst>
          </p:cNvPr>
          <p:cNvSpPr txBox="1"/>
          <p:nvPr/>
        </p:nvSpPr>
        <p:spPr>
          <a:xfrm>
            <a:off x="933925" y="2469616"/>
            <a:ext cx="2467642" cy="813043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spcBef>
                <a:spcPts val="340"/>
              </a:spcBef>
            </a:pPr>
            <a:r>
              <a:rPr lang="pt-BR" sz="2500" b="1" dirty="0">
                <a:solidFill>
                  <a:schemeClr val="bg1"/>
                </a:solidFill>
                <a:latin typeface="+mj-lt"/>
                <a:cs typeface="Avenir Black"/>
              </a:rPr>
              <a:t>Alinhamento cultural</a:t>
            </a:r>
            <a:endParaRPr lang="pt-BR" sz="2500" dirty="0">
              <a:solidFill>
                <a:schemeClr val="bg1"/>
              </a:solidFill>
              <a:latin typeface="+mj-lt"/>
              <a:cs typeface="Avenir Black"/>
            </a:endParaRPr>
          </a:p>
        </p:txBody>
      </p:sp>
      <p:cxnSp>
        <p:nvCxnSpPr>
          <p:cNvPr id="25" name="Conector Reto 24" descr="Linha branca">
            <a:extLst>
              <a:ext uri="{FF2B5EF4-FFF2-40B4-BE49-F238E27FC236}">
                <a16:creationId xmlns:a16="http://schemas.microsoft.com/office/drawing/2014/main" id="{607CF451-781C-4491-A864-E8EEECD3491A}"/>
              </a:ext>
            </a:extLst>
          </p:cNvPr>
          <p:cNvCxnSpPr/>
          <p:nvPr/>
        </p:nvCxnSpPr>
        <p:spPr>
          <a:xfrm>
            <a:off x="3479800" y="2944678"/>
            <a:ext cx="56706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 descr="Linha branca">
            <a:extLst>
              <a:ext uri="{FF2B5EF4-FFF2-40B4-BE49-F238E27FC236}">
                <a16:creationId xmlns:a16="http://schemas.microsoft.com/office/drawing/2014/main" id="{A2249A06-D37D-4511-AD35-60520458B7E1}"/>
              </a:ext>
            </a:extLst>
          </p:cNvPr>
          <p:cNvCxnSpPr>
            <a:cxnSpLocks/>
          </p:cNvCxnSpPr>
          <p:nvPr/>
        </p:nvCxnSpPr>
        <p:spPr>
          <a:xfrm>
            <a:off x="3479800" y="5406326"/>
            <a:ext cx="96306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 descr="Linha branca">
            <a:extLst>
              <a:ext uri="{FF2B5EF4-FFF2-40B4-BE49-F238E27FC236}">
                <a16:creationId xmlns:a16="http://schemas.microsoft.com/office/drawing/2014/main" id="{C1314840-B284-4988-81B2-CB4ABB86560A}"/>
              </a:ext>
            </a:extLst>
          </p:cNvPr>
          <p:cNvCxnSpPr>
            <a:cxnSpLocks/>
          </p:cNvCxnSpPr>
          <p:nvPr/>
        </p:nvCxnSpPr>
        <p:spPr>
          <a:xfrm>
            <a:off x="7778984" y="2944678"/>
            <a:ext cx="79351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 descr="Linha branca">
            <a:extLst>
              <a:ext uri="{FF2B5EF4-FFF2-40B4-BE49-F238E27FC236}">
                <a16:creationId xmlns:a16="http://schemas.microsoft.com/office/drawing/2014/main" id="{34523086-F02B-40E2-8276-9455FC9EDA4F}"/>
              </a:ext>
            </a:extLst>
          </p:cNvPr>
          <p:cNvCxnSpPr>
            <a:cxnSpLocks/>
          </p:cNvCxnSpPr>
          <p:nvPr/>
        </p:nvCxnSpPr>
        <p:spPr>
          <a:xfrm>
            <a:off x="7426788" y="5406326"/>
            <a:ext cx="13241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2811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C750891-B331-46E3-89A1-0996C3679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pt-BR" dirty="0"/>
              <a:t>Como Escolher os KPIs Certos</a:t>
            </a:r>
            <a:br>
              <a:rPr lang="pt-BR" dirty="0"/>
            </a:br>
            <a:endParaRPr lang="pt-BR" dirty="0"/>
          </a:p>
        </p:txBody>
      </p:sp>
      <p:sp>
        <p:nvSpPr>
          <p:cNvPr id="2" name="Espaço Reservado para o Número do Slide 1">
            <a:extLst>
              <a:ext uri="{FF2B5EF4-FFF2-40B4-BE49-F238E27FC236}">
                <a16:creationId xmlns:a16="http://schemas.microsoft.com/office/drawing/2014/main" id="{6EC5A228-0BB3-460B-97CB-3667DC43D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pt-BR" smtClean="0"/>
              <a:t>14</a:t>
            </a:fld>
            <a:endParaRPr lang="pt-BR" dirty="0"/>
          </a:p>
        </p:txBody>
      </p:sp>
      <p:sp>
        <p:nvSpPr>
          <p:cNvPr id="6" name="objeto 18" descr="Retângulo bege">
            <a:extLst>
              <a:ext uri="{FF2B5EF4-FFF2-40B4-BE49-F238E27FC236}">
                <a16:creationId xmlns:a16="http://schemas.microsoft.com/office/drawing/2014/main" id="{31A1F953-41C3-4B9E-9EA3-26087E184E71}"/>
              </a:ext>
            </a:extLst>
          </p:cNvPr>
          <p:cNvSpPr/>
          <p:nvPr/>
        </p:nvSpPr>
        <p:spPr>
          <a:xfrm>
            <a:off x="953947" y="1157354"/>
            <a:ext cx="6152909" cy="45719"/>
          </a:xfrm>
          <a:custGeom>
            <a:avLst/>
            <a:gdLst/>
            <a:ahLst/>
            <a:cxnLst/>
            <a:rect l="l" t="t" r="r" b="b"/>
            <a:pathLst>
              <a:path w="3218815">
                <a:moveTo>
                  <a:pt x="0" y="0"/>
                </a:moveTo>
                <a:lnTo>
                  <a:pt x="3218395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pPr rtl="0"/>
            <a:endParaRPr lang="pt-BR" dirty="0"/>
          </a:p>
        </p:txBody>
      </p:sp>
      <p:graphicFrame>
        <p:nvGraphicFramePr>
          <p:cNvPr id="9" name="Espaço Reservado para Conteúdo 7">
            <a:extLst>
              <a:ext uri="{FF2B5EF4-FFF2-40B4-BE49-F238E27FC236}">
                <a16:creationId xmlns:a16="http://schemas.microsoft.com/office/drawing/2014/main" id="{7CEA469E-1569-405A-8AC4-983D41DB66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08966090"/>
              </p:ext>
            </p:extLst>
          </p:nvPr>
        </p:nvGraphicFramePr>
        <p:xfrm>
          <a:off x="1770185" y="1702054"/>
          <a:ext cx="8502526" cy="3975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2526">
                  <a:extLst>
                    <a:ext uri="{9D8B030D-6E8A-4147-A177-3AD203B41FA5}">
                      <a16:colId xmlns:a16="http://schemas.microsoft.com/office/drawing/2014/main" val="2120316286"/>
                    </a:ext>
                  </a:extLst>
                </a:gridCol>
              </a:tblGrid>
              <a:tr h="993933">
                <a:tc>
                  <a:txBody>
                    <a:bodyPr/>
                    <a:lstStyle/>
                    <a:p>
                      <a:pPr marL="227965" rtl="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lang="pt-br" sz="2400" b="1" spc="-10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cs typeface="Arial"/>
                        </a:rPr>
                        <a:t>Alinhe com os objetivos estratégicos da empresa</a:t>
                      </a:r>
                      <a:endParaRPr lang="pt-br" sz="2400" b="1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104278"/>
                  </a:ext>
                </a:extLst>
              </a:tr>
              <a:tr h="993933">
                <a:tc>
                  <a:txBody>
                    <a:bodyPr/>
                    <a:lstStyle/>
                    <a:p>
                      <a:pPr marL="227965" rtl="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lang="pt-BR" sz="2400" b="1" spc="-3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Priorize KPIs que geram ação</a:t>
                      </a:r>
                      <a:endParaRPr sz="2400" b="1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273019"/>
                  </a:ext>
                </a:extLst>
              </a:tr>
              <a:tr h="993933">
                <a:tc>
                  <a:txBody>
                    <a:bodyPr/>
                    <a:lstStyle/>
                    <a:p>
                      <a:pPr marL="227965" rtl="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pt-br" sz="2400" b="1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Evite excesso de métricas</a:t>
                      </a:r>
                      <a:endParaRPr sz="2400" b="1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3928045"/>
                  </a:ext>
                </a:extLst>
              </a:tr>
              <a:tr h="993933">
                <a:tc>
                  <a:txBody>
                    <a:bodyPr/>
                    <a:lstStyle/>
                    <a:p>
                      <a:pPr marL="227965" rtl="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pt-br" sz="2400" b="1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Valide com líderes e colabores</a:t>
                      </a:r>
                      <a:endParaRPr sz="2400" b="1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066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77710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13" descr="As pessoas discutem algo">
            <a:extLst>
              <a:ext uri="{FF2B5EF4-FFF2-40B4-BE49-F238E27FC236}">
                <a16:creationId xmlns:a16="http://schemas.microsoft.com/office/drawing/2014/main" id="{6A931DA1-E5DB-4DC7-8587-13E03646B8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5" name="objeto 3" descr="Retângulo azul">
            <a:extLst>
              <a:ext uri="{FF2B5EF4-FFF2-40B4-BE49-F238E27FC236}">
                <a16:creationId xmlns:a16="http://schemas.microsoft.com/office/drawing/2014/main" id="{4BECF646-53D1-45AC-B3BD-A354F97BF99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9999"/>
            </a:schemeClr>
          </a:solidFill>
        </p:spPr>
        <p:txBody>
          <a:bodyPr wrap="square" lIns="0" tIns="0" rIns="0" bIns="0" rtlCol="0"/>
          <a:lstStyle/>
          <a:p>
            <a:pPr rtl="0"/>
            <a:endParaRPr lang="pt-BR" dirty="0"/>
          </a:p>
        </p:txBody>
      </p:sp>
      <p:sp>
        <p:nvSpPr>
          <p:cNvPr id="6" name="Oval 5" descr="Círculo branco">
            <a:extLst>
              <a:ext uri="{FF2B5EF4-FFF2-40B4-BE49-F238E27FC236}">
                <a16:creationId xmlns:a16="http://schemas.microsoft.com/office/drawing/2014/main" id="{E10F3DCC-07E6-4D59-A431-A1635C969E18}"/>
              </a:ext>
            </a:extLst>
          </p:cNvPr>
          <p:cNvSpPr/>
          <p:nvPr/>
        </p:nvSpPr>
        <p:spPr>
          <a:xfrm>
            <a:off x="3814456" y="1611824"/>
            <a:ext cx="4494508" cy="449450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7" name="Oval 6" descr="Oval bege">
            <a:extLst>
              <a:ext uri="{FF2B5EF4-FFF2-40B4-BE49-F238E27FC236}">
                <a16:creationId xmlns:a16="http://schemas.microsoft.com/office/drawing/2014/main" id="{EA8B42FD-C023-4644-96AC-8980751FF7A1}"/>
              </a:ext>
            </a:extLst>
          </p:cNvPr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8" name="objeto 5" descr="Retângulo bege">
            <a:extLst>
              <a:ext uri="{FF2B5EF4-FFF2-40B4-BE49-F238E27FC236}">
                <a16:creationId xmlns:a16="http://schemas.microsoft.com/office/drawing/2014/main" id="{BC044FB9-974F-468C-959D-DBB001422531}"/>
              </a:ext>
            </a:extLst>
          </p:cNvPr>
          <p:cNvSpPr/>
          <p:nvPr/>
        </p:nvSpPr>
        <p:spPr>
          <a:xfrm>
            <a:off x="921016" y="1323348"/>
            <a:ext cx="7007642" cy="474485"/>
          </a:xfrm>
          <a:custGeom>
            <a:avLst/>
            <a:gdLst/>
            <a:ahLst/>
            <a:cxnLst/>
            <a:rect l="l" t="t" r="r" b="b"/>
            <a:pathLst>
              <a:path w="3931920">
                <a:moveTo>
                  <a:pt x="0" y="0"/>
                </a:moveTo>
                <a:lnTo>
                  <a:pt x="3931920" y="0"/>
                </a:lnTo>
              </a:path>
            </a:pathLst>
          </a:custGeom>
          <a:ln w="54864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pPr rtl="0"/>
            <a:endParaRPr lang="pt-BR" dirty="0"/>
          </a:p>
        </p:txBody>
      </p:sp>
      <p:graphicFrame>
        <p:nvGraphicFramePr>
          <p:cNvPr id="9" name="Espaço Reservado para Conteúdo 24" descr="Gráfico">
            <a:extLst>
              <a:ext uri="{FF2B5EF4-FFF2-40B4-BE49-F238E27FC236}">
                <a16:creationId xmlns:a16="http://schemas.microsoft.com/office/drawing/2014/main" id="{EE0E2830-BDA5-4A5D-AA0B-457EF9EC97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0579248"/>
              </p:ext>
            </p:extLst>
          </p:nvPr>
        </p:nvGraphicFramePr>
        <p:xfrm>
          <a:off x="2485867" y="1699285"/>
          <a:ext cx="7151687" cy="43195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objeto 8">
            <a:extLst>
              <a:ext uri="{FF2B5EF4-FFF2-40B4-BE49-F238E27FC236}">
                <a16:creationId xmlns:a16="http://schemas.microsoft.com/office/drawing/2014/main" id="{9ABE18D1-B25D-4F04-AA11-E2867D9659EB}"/>
              </a:ext>
            </a:extLst>
          </p:cNvPr>
          <p:cNvSpPr txBox="1"/>
          <p:nvPr/>
        </p:nvSpPr>
        <p:spPr>
          <a:xfrm>
            <a:off x="697809" y="5588113"/>
            <a:ext cx="2303011" cy="474489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rtl="0">
              <a:spcBef>
                <a:spcPts val="340"/>
              </a:spcBef>
            </a:pPr>
            <a:r>
              <a:rPr lang="pt-BR" sz="1400" i="1" spc="15" dirty="0">
                <a:solidFill>
                  <a:schemeClr val="bg2"/>
                </a:solidFill>
                <a:cs typeface="Arial"/>
              </a:rPr>
              <a:t>GARANTIR QUALIDADE DOS DADOS</a:t>
            </a:r>
          </a:p>
        </p:txBody>
      </p:sp>
      <p:sp>
        <p:nvSpPr>
          <p:cNvPr id="12" name="objeto 9">
            <a:extLst>
              <a:ext uri="{FF2B5EF4-FFF2-40B4-BE49-F238E27FC236}">
                <a16:creationId xmlns:a16="http://schemas.microsoft.com/office/drawing/2014/main" id="{162C1FC1-CA02-4B79-910C-21012DAC265F}"/>
              </a:ext>
            </a:extLst>
          </p:cNvPr>
          <p:cNvSpPr txBox="1"/>
          <p:nvPr/>
        </p:nvSpPr>
        <p:spPr>
          <a:xfrm>
            <a:off x="9087823" y="3622673"/>
            <a:ext cx="2585142" cy="474489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algn="r" rtl="0">
              <a:spcBef>
                <a:spcPts val="340"/>
              </a:spcBef>
            </a:pPr>
            <a:r>
              <a:rPr lang="pt-BR" sz="1400" i="1" spc="15" dirty="0">
                <a:solidFill>
                  <a:schemeClr val="bg2"/>
                </a:solidFill>
                <a:cs typeface="Arial"/>
              </a:rPr>
              <a:t>TREINAR LÍDERES PARA USO DOS INDICADORES</a:t>
            </a:r>
            <a:endParaRPr lang="pt-BR" sz="2500" b="1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15" name="Conector Reto 14" descr="Linha branca">
            <a:extLst>
              <a:ext uri="{FF2B5EF4-FFF2-40B4-BE49-F238E27FC236}">
                <a16:creationId xmlns:a16="http://schemas.microsoft.com/office/drawing/2014/main" id="{244F867F-C0A0-494C-AAEE-CF7514F09273}"/>
              </a:ext>
            </a:extLst>
          </p:cNvPr>
          <p:cNvCxnSpPr>
            <a:cxnSpLocks/>
          </p:cNvCxnSpPr>
          <p:nvPr/>
        </p:nvCxnSpPr>
        <p:spPr>
          <a:xfrm>
            <a:off x="3019647" y="5748963"/>
            <a:ext cx="227430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bjeto 9">
            <a:extLst>
              <a:ext uri="{FF2B5EF4-FFF2-40B4-BE49-F238E27FC236}">
                <a16:creationId xmlns:a16="http://schemas.microsoft.com/office/drawing/2014/main" id="{5852F861-60AD-4058-8816-BFDA17B26136}"/>
              </a:ext>
            </a:extLst>
          </p:cNvPr>
          <p:cNvSpPr txBox="1"/>
          <p:nvPr/>
        </p:nvSpPr>
        <p:spPr>
          <a:xfrm>
            <a:off x="8713643" y="5452049"/>
            <a:ext cx="2427502" cy="474489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algn="r" rtl="0">
              <a:spcBef>
                <a:spcPts val="340"/>
              </a:spcBef>
            </a:pPr>
            <a:r>
              <a:rPr lang="pt-BR" sz="1400" i="1" spc="15" dirty="0">
                <a:solidFill>
                  <a:schemeClr val="bg2"/>
                </a:solidFill>
                <a:cs typeface="Arial"/>
              </a:rPr>
              <a:t>REVISAR KPIs PERIODICAMENTE</a:t>
            </a:r>
          </a:p>
        </p:txBody>
      </p:sp>
      <p:cxnSp>
        <p:nvCxnSpPr>
          <p:cNvPr id="19" name="Conector Reto 18" descr="Linha branca">
            <a:extLst>
              <a:ext uri="{FF2B5EF4-FFF2-40B4-BE49-F238E27FC236}">
                <a16:creationId xmlns:a16="http://schemas.microsoft.com/office/drawing/2014/main" id="{438959A8-EA4D-4EB2-A3CD-C9493D0F65BC}"/>
              </a:ext>
            </a:extLst>
          </p:cNvPr>
          <p:cNvCxnSpPr>
            <a:cxnSpLocks/>
          </p:cNvCxnSpPr>
          <p:nvPr/>
        </p:nvCxnSpPr>
        <p:spPr>
          <a:xfrm>
            <a:off x="7222853" y="5748963"/>
            <a:ext cx="150445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bjeto 7">
            <a:extLst>
              <a:ext uri="{FF2B5EF4-FFF2-40B4-BE49-F238E27FC236}">
                <a16:creationId xmlns:a16="http://schemas.microsoft.com/office/drawing/2014/main" id="{6C83E084-67D6-42AD-B8A0-34F2E75BC6A6}"/>
              </a:ext>
            </a:extLst>
          </p:cNvPr>
          <p:cNvSpPr txBox="1"/>
          <p:nvPr/>
        </p:nvSpPr>
        <p:spPr>
          <a:xfrm>
            <a:off x="1110202" y="3711644"/>
            <a:ext cx="1995640" cy="474489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rtl="0">
              <a:spcBef>
                <a:spcPts val="340"/>
              </a:spcBef>
            </a:pPr>
            <a:r>
              <a:rPr lang="pt-BR" sz="1400" i="1" spc="15" dirty="0">
                <a:solidFill>
                  <a:schemeClr val="bg2"/>
                </a:solidFill>
                <a:cs typeface="Arial"/>
              </a:rPr>
              <a:t>ESCOLHER KPIs ALINHADOS</a:t>
            </a:r>
          </a:p>
        </p:txBody>
      </p:sp>
      <p:cxnSp>
        <p:nvCxnSpPr>
          <p:cNvPr id="23" name="Conector Reto 22" descr="Linha branca">
            <a:extLst>
              <a:ext uri="{FF2B5EF4-FFF2-40B4-BE49-F238E27FC236}">
                <a16:creationId xmlns:a16="http://schemas.microsoft.com/office/drawing/2014/main" id="{9E50C003-CBEF-4240-91F0-42CC5D4B7EC2}"/>
              </a:ext>
            </a:extLst>
          </p:cNvPr>
          <p:cNvCxnSpPr>
            <a:cxnSpLocks/>
          </p:cNvCxnSpPr>
          <p:nvPr/>
        </p:nvCxnSpPr>
        <p:spPr>
          <a:xfrm flipV="1">
            <a:off x="2902688" y="3948889"/>
            <a:ext cx="1061827" cy="288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bjeto 7">
            <a:extLst>
              <a:ext uri="{FF2B5EF4-FFF2-40B4-BE49-F238E27FC236}">
                <a16:creationId xmlns:a16="http://schemas.microsoft.com/office/drawing/2014/main" id="{0E5F339A-D84A-4789-AEF8-EE5F151DA19D}"/>
              </a:ext>
            </a:extLst>
          </p:cNvPr>
          <p:cNvSpPr txBox="1"/>
          <p:nvPr/>
        </p:nvSpPr>
        <p:spPr>
          <a:xfrm>
            <a:off x="8954727" y="1789429"/>
            <a:ext cx="2275435" cy="897682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algn="r" rtl="0">
              <a:spcBef>
                <a:spcPts val="340"/>
              </a:spcBef>
            </a:pPr>
            <a:r>
              <a:rPr lang="pt-BR" sz="1400" i="1" spc="15" dirty="0">
                <a:solidFill>
                  <a:schemeClr val="bg2"/>
                </a:solidFill>
                <a:cs typeface="Arial"/>
              </a:rPr>
              <a:t>CRIAR DASHBOARD ACESSÍVEIS</a:t>
            </a:r>
          </a:p>
          <a:p>
            <a:pPr marL="12700" algn="r" rtl="0">
              <a:spcBef>
                <a:spcPts val="340"/>
              </a:spcBef>
            </a:pPr>
            <a:endParaRPr lang="pt-BR" sz="2500" b="1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25" name="Conector Reto 24" descr="Linha branca">
            <a:extLst>
              <a:ext uri="{FF2B5EF4-FFF2-40B4-BE49-F238E27FC236}">
                <a16:creationId xmlns:a16="http://schemas.microsoft.com/office/drawing/2014/main" id="{8225D414-BFA0-4BE0-A075-349795A4D97C}"/>
              </a:ext>
            </a:extLst>
          </p:cNvPr>
          <p:cNvCxnSpPr>
            <a:cxnSpLocks/>
          </p:cNvCxnSpPr>
          <p:nvPr/>
        </p:nvCxnSpPr>
        <p:spPr>
          <a:xfrm flipV="1">
            <a:off x="7427748" y="2090692"/>
            <a:ext cx="1661739" cy="124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bjeto 7">
            <a:extLst>
              <a:ext uri="{FF2B5EF4-FFF2-40B4-BE49-F238E27FC236}">
                <a16:creationId xmlns:a16="http://schemas.microsoft.com/office/drawing/2014/main" id="{2083A730-A815-4FBF-BA3B-83209E0FA6E7}"/>
              </a:ext>
            </a:extLst>
          </p:cNvPr>
          <p:cNvSpPr txBox="1"/>
          <p:nvPr/>
        </p:nvSpPr>
        <p:spPr>
          <a:xfrm>
            <a:off x="896536" y="1947790"/>
            <a:ext cx="2467642" cy="474489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rtl="0">
              <a:lnSpc>
                <a:spcPct val="100000"/>
              </a:lnSpc>
              <a:spcBef>
                <a:spcPts val="340"/>
              </a:spcBef>
            </a:pPr>
            <a:r>
              <a:rPr lang="pt-BR" sz="1400" i="1" spc="15" dirty="0">
                <a:solidFill>
                  <a:schemeClr val="bg2"/>
                </a:solidFill>
                <a:cs typeface="Arial"/>
              </a:rPr>
              <a:t>DEFINIR OBJETIVOS ESTRATÉGICOS</a:t>
            </a:r>
            <a:endParaRPr lang="pt-BR" sz="1400" i="1" spc="20" dirty="0">
              <a:solidFill>
                <a:schemeClr val="bg2"/>
              </a:solidFill>
              <a:cs typeface="Arial"/>
            </a:endParaRPr>
          </a:p>
        </p:txBody>
      </p:sp>
      <p:cxnSp>
        <p:nvCxnSpPr>
          <p:cNvPr id="27" name="Conector Reto 26" descr="Linha branca">
            <a:extLst>
              <a:ext uri="{FF2B5EF4-FFF2-40B4-BE49-F238E27FC236}">
                <a16:creationId xmlns:a16="http://schemas.microsoft.com/office/drawing/2014/main" id="{B52030EA-F303-4D12-803A-7194E56AE705}"/>
              </a:ext>
            </a:extLst>
          </p:cNvPr>
          <p:cNvCxnSpPr>
            <a:cxnSpLocks/>
          </p:cNvCxnSpPr>
          <p:nvPr/>
        </p:nvCxnSpPr>
        <p:spPr>
          <a:xfrm>
            <a:off x="3199546" y="2148815"/>
            <a:ext cx="159296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to 28" descr="Linha branca">
            <a:extLst>
              <a:ext uri="{FF2B5EF4-FFF2-40B4-BE49-F238E27FC236}">
                <a16:creationId xmlns:a16="http://schemas.microsoft.com/office/drawing/2014/main" id="{E7BFD3CA-0D22-406E-81D4-26CBC6952A3B}"/>
              </a:ext>
            </a:extLst>
          </p:cNvPr>
          <p:cNvCxnSpPr>
            <a:cxnSpLocks/>
          </p:cNvCxnSpPr>
          <p:nvPr/>
        </p:nvCxnSpPr>
        <p:spPr>
          <a:xfrm>
            <a:off x="8272071" y="3773383"/>
            <a:ext cx="123074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48902E4B-FC75-4695-90B2-F3C6A6F40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547" y="365125"/>
            <a:ext cx="10515600" cy="1325563"/>
          </a:xfrm>
        </p:spPr>
        <p:txBody>
          <a:bodyPr rtlCol="0"/>
          <a:lstStyle/>
          <a:p>
            <a:pPr rtl="0"/>
            <a:r>
              <a:rPr lang="pt-BR" dirty="0">
                <a:solidFill>
                  <a:schemeClr val="bg1"/>
                </a:solidFill>
              </a:rPr>
              <a:t>CHECKLIST PARA IMPLANTAÇÃO</a:t>
            </a:r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AEFA1E07-4A98-42A5-80C7-7135F4306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342" y="6174902"/>
            <a:ext cx="357116" cy="365125"/>
          </a:xfrm>
        </p:spPr>
        <p:txBody>
          <a:bodyPr rtlCol="0"/>
          <a:lstStyle/>
          <a:p>
            <a:pPr rtl="0"/>
            <a:fld id="{82EE24B5-652C-4DB5-B7C3-B5BBEC1280B1}" type="slidenum">
              <a:rPr lang="pt-BR" smtClean="0"/>
              <a:t>15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897289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13" descr="As pessoas discutem algo">
            <a:extLst>
              <a:ext uri="{FF2B5EF4-FFF2-40B4-BE49-F238E27FC236}">
                <a16:creationId xmlns:a16="http://schemas.microsoft.com/office/drawing/2014/main" id="{6A931DA1-E5DB-4DC7-8587-13E03646B8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5" name="objeto 3" descr="Retângulo azul">
            <a:extLst>
              <a:ext uri="{FF2B5EF4-FFF2-40B4-BE49-F238E27FC236}">
                <a16:creationId xmlns:a16="http://schemas.microsoft.com/office/drawing/2014/main" id="{4BECF646-53D1-45AC-B3BD-A354F97BF990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9999"/>
            </a:schemeClr>
          </a:solidFill>
        </p:spPr>
        <p:txBody>
          <a:bodyPr wrap="square" lIns="0" tIns="0" rIns="0" bIns="0" rtlCol="0"/>
          <a:lstStyle/>
          <a:p>
            <a:pPr rtl="0"/>
            <a:endParaRPr lang="pt-BR" dirty="0"/>
          </a:p>
        </p:txBody>
      </p:sp>
      <p:sp>
        <p:nvSpPr>
          <p:cNvPr id="6" name="Oval 5" descr="Círculo branco">
            <a:extLst>
              <a:ext uri="{FF2B5EF4-FFF2-40B4-BE49-F238E27FC236}">
                <a16:creationId xmlns:a16="http://schemas.microsoft.com/office/drawing/2014/main" id="{E10F3DCC-07E6-4D59-A431-A1635C969E18}"/>
              </a:ext>
            </a:extLst>
          </p:cNvPr>
          <p:cNvSpPr/>
          <p:nvPr/>
        </p:nvSpPr>
        <p:spPr>
          <a:xfrm>
            <a:off x="3814456" y="1611824"/>
            <a:ext cx="4494508" cy="449450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7" name="Oval 6" descr="Oval bege">
            <a:extLst>
              <a:ext uri="{FF2B5EF4-FFF2-40B4-BE49-F238E27FC236}">
                <a16:creationId xmlns:a16="http://schemas.microsoft.com/office/drawing/2014/main" id="{EA8B42FD-C023-4644-96AC-8980751FF7A1}"/>
              </a:ext>
            </a:extLst>
          </p:cNvPr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8" name="objeto 5" descr="Retângulo bege">
            <a:extLst>
              <a:ext uri="{FF2B5EF4-FFF2-40B4-BE49-F238E27FC236}">
                <a16:creationId xmlns:a16="http://schemas.microsoft.com/office/drawing/2014/main" id="{BC044FB9-974F-468C-959D-DBB001422531}"/>
              </a:ext>
            </a:extLst>
          </p:cNvPr>
          <p:cNvSpPr/>
          <p:nvPr/>
        </p:nvSpPr>
        <p:spPr>
          <a:xfrm>
            <a:off x="921016" y="1323348"/>
            <a:ext cx="7007642" cy="474485"/>
          </a:xfrm>
          <a:custGeom>
            <a:avLst/>
            <a:gdLst/>
            <a:ahLst/>
            <a:cxnLst/>
            <a:rect l="l" t="t" r="r" b="b"/>
            <a:pathLst>
              <a:path w="3931920">
                <a:moveTo>
                  <a:pt x="0" y="0"/>
                </a:moveTo>
                <a:lnTo>
                  <a:pt x="3931920" y="0"/>
                </a:lnTo>
              </a:path>
            </a:pathLst>
          </a:custGeom>
          <a:ln w="54864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pPr rtl="0"/>
            <a:endParaRPr lang="pt-BR" dirty="0"/>
          </a:p>
        </p:txBody>
      </p:sp>
      <p:graphicFrame>
        <p:nvGraphicFramePr>
          <p:cNvPr id="9" name="Espaço Reservado para Conteúdo 24" descr="Gráfico">
            <a:extLst>
              <a:ext uri="{FF2B5EF4-FFF2-40B4-BE49-F238E27FC236}">
                <a16:creationId xmlns:a16="http://schemas.microsoft.com/office/drawing/2014/main" id="{EE0E2830-BDA5-4A5D-AA0B-457EF9EC97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5710610"/>
              </p:ext>
            </p:extLst>
          </p:nvPr>
        </p:nvGraphicFramePr>
        <p:xfrm>
          <a:off x="2485867" y="1699285"/>
          <a:ext cx="7151687" cy="43195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objeto 8">
            <a:extLst>
              <a:ext uri="{FF2B5EF4-FFF2-40B4-BE49-F238E27FC236}">
                <a16:creationId xmlns:a16="http://schemas.microsoft.com/office/drawing/2014/main" id="{9ABE18D1-B25D-4F04-AA11-E2867D9659EB}"/>
              </a:ext>
            </a:extLst>
          </p:cNvPr>
          <p:cNvSpPr txBox="1"/>
          <p:nvPr/>
        </p:nvSpPr>
        <p:spPr>
          <a:xfrm>
            <a:off x="697809" y="5588113"/>
            <a:ext cx="2303011" cy="474489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rtl="0">
              <a:spcBef>
                <a:spcPts val="340"/>
              </a:spcBef>
            </a:pPr>
            <a:r>
              <a:rPr lang="pt-BR" sz="1400" b="1" i="1" spc="15" dirty="0">
                <a:solidFill>
                  <a:srgbClr val="FF0000"/>
                </a:solidFill>
                <a:cs typeface="Arial"/>
              </a:rPr>
              <a:t>IGNORAR CONTEXTO E CULTURA DA EMPRESA</a:t>
            </a:r>
          </a:p>
        </p:txBody>
      </p:sp>
      <p:cxnSp>
        <p:nvCxnSpPr>
          <p:cNvPr id="15" name="Conector Reto 14" descr="Linha branca">
            <a:extLst>
              <a:ext uri="{FF2B5EF4-FFF2-40B4-BE49-F238E27FC236}">
                <a16:creationId xmlns:a16="http://schemas.microsoft.com/office/drawing/2014/main" id="{244F867F-C0A0-494C-AAEE-CF7514F09273}"/>
              </a:ext>
            </a:extLst>
          </p:cNvPr>
          <p:cNvCxnSpPr>
            <a:cxnSpLocks/>
          </p:cNvCxnSpPr>
          <p:nvPr/>
        </p:nvCxnSpPr>
        <p:spPr>
          <a:xfrm>
            <a:off x="3019647" y="5748963"/>
            <a:ext cx="227430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bjeto 9">
            <a:extLst>
              <a:ext uri="{FF2B5EF4-FFF2-40B4-BE49-F238E27FC236}">
                <a16:creationId xmlns:a16="http://schemas.microsoft.com/office/drawing/2014/main" id="{5852F861-60AD-4058-8816-BFDA17B26136}"/>
              </a:ext>
            </a:extLst>
          </p:cNvPr>
          <p:cNvSpPr txBox="1"/>
          <p:nvPr/>
        </p:nvSpPr>
        <p:spPr>
          <a:xfrm>
            <a:off x="8713643" y="5452049"/>
            <a:ext cx="2427502" cy="474489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algn="r" rtl="0">
              <a:spcBef>
                <a:spcPts val="340"/>
              </a:spcBef>
            </a:pPr>
            <a:r>
              <a:rPr lang="pt-BR" sz="1400" b="1" i="1" spc="15" dirty="0">
                <a:solidFill>
                  <a:srgbClr val="FF0000"/>
                </a:solidFill>
                <a:cs typeface="Arial"/>
              </a:rPr>
              <a:t>NÃO COMUNICAR OS RESULTADOS</a:t>
            </a:r>
          </a:p>
        </p:txBody>
      </p:sp>
      <p:cxnSp>
        <p:nvCxnSpPr>
          <p:cNvPr id="19" name="Conector Reto 18" descr="Linha branca">
            <a:extLst>
              <a:ext uri="{FF2B5EF4-FFF2-40B4-BE49-F238E27FC236}">
                <a16:creationId xmlns:a16="http://schemas.microsoft.com/office/drawing/2014/main" id="{438959A8-EA4D-4EB2-A3CD-C9493D0F65BC}"/>
              </a:ext>
            </a:extLst>
          </p:cNvPr>
          <p:cNvCxnSpPr>
            <a:cxnSpLocks/>
          </p:cNvCxnSpPr>
          <p:nvPr/>
        </p:nvCxnSpPr>
        <p:spPr>
          <a:xfrm>
            <a:off x="7222853" y="5748963"/>
            <a:ext cx="150445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bjeto 7">
            <a:extLst>
              <a:ext uri="{FF2B5EF4-FFF2-40B4-BE49-F238E27FC236}">
                <a16:creationId xmlns:a16="http://schemas.microsoft.com/office/drawing/2014/main" id="{0E5F339A-D84A-4789-AEF8-EE5F151DA19D}"/>
              </a:ext>
            </a:extLst>
          </p:cNvPr>
          <p:cNvSpPr txBox="1"/>
          <p:nvPr/>
        </p:nvSpPr>
        <p:spPr>
          <a:xfrm>
            <a:off x="8954727" y="1789429"/>
            <a:ext cx="2275435" cy="897682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algn="r" rtl="0">
              <a:spcBef>
                <a:spcPts val="340"/>
              </a:spcBef>
            </a:pPr>
            <a:r>
              <a:rPr lang="pt-BR" sz="1400" b="1" i="1" spc="15" dirty="0">
                <a:solidFill>
                  <a:srgbClr val="FF0000"/>
                </a:solidFill>
                <a:cs typeface="Arial"/>
              </a:rPr>
              <a:t>FALTA DE ATUALIZAÇÃO DOS INDICADORES</a:t>
            </a:r>
          </a:p>
          <a:p>
            <a:pPr marL="12700" algn="r" rtl="0">
              <a:spcBef>
                <a:spcPts val="340"/>
              </a:spcBef>
            </a:pPr>
            <a:endParaRPr lang="pt-BR" sz="2500" b="1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25" name="Conector Reto 24" descr="Linha branca">
            <a:extLst>
              <a:ext uri="{FF2B5EF4-FFF2-40B4-BE49-F238E27FC236}">
                <a16:creationId xmlns:a16="http://schemas.microsoft.com/office/drawing/2014/main" id="{8225D414-BFA0-4BE0-A075-349795A4D97C}"/>
              </a:ext>
            </a:extLst>
          </p:cNvPr>
          <p:cNvCxnSpPr>
            <a:cxnSpLocks/>
          </p:cNvCxnSpPr>
          <p:nvPr/>
        </p:nvCxnSpPr>
        <p:spPr>
          <a:xfrm flipV="1">
            <a:off x="7427748" y="2090692"/>
            <a:ext cx="1661739" cy="124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bjeto 7">
            <a:extLst>
              <a:ext uri="{FF2B5EF4-FFF2-40B4-BE49-F238E27FC236}">
                <a16:creationId xmlns:a16="http://schemas.microsoft.com/office/drawing/2014/main" id="{2083A730-A815-4FBF-BA3B-83209E0FA6E7}"/>
              </a:ext>
            </a:extLst>
          </p:cNvPr>
          <p:cNvSpPr txBox="1"/>
          <p:nvPr/>
        </p:nvSpPr>
        <p:spPr>
          <a:xfrm>
            <a:off x="896536" y="1947790"/>
            <a:ext cx="2467642" cy="25904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rtl="0">
              <a:lnSpc>
                <a:spcPct val="100000"/>
              </a:lnSpc>
              <a:spcBef>
                <a:spcPts val="340"/>
              </a:spcBef>
            </a:pPr>
            <a:r>
              <a:rPr lang="pt-BR" sz="1400" b="1" i="1" spc="15" dirty="0">
                <a:solidFill>
                  <a:srgbClr val="FF0000"/>
                </a:solidFill>
                <a:cs typeface="Arial"/>
              </a:rPr>
              <a:t>MEDIR SEM PROPÓSITO</a:t>
            </a:r>
            <a:endParaRPr lang="pt-BR" sz="1400" b="1" i="1" spc="20" dirty="0">
              <a:solidFill>
                <a:srgbClr val="FF0000"/>
              </a:solidFill>
              <a:cs typeface="Arial"/>
            </a:endParaRPr>
          </a:p>
        </p:txBody>
      </p:sp>
      <p:cxnSp>
        <p:nvCxnSpPr>
          <p:cNvPr id="27" name="Conector Reto 26" descr="Linha branca">
            <a:extLst>
              <a:ext uri="{FF2B5EF4-FFF2-40B4-BE49-F238E27FC236}">
                <a16:creationId xmlns:a16="http://schemas.microsoft.com/office/drawing/2014/main" id="{B52030EA-F303-4D12-803A-7194E56AE705}"/>
              </a:ext>
            </a:extLst>
          </p:cNvPr>
          <p:cNvCxnSpPr>
            <a:cxnSpLocks/>
          </p:cNvCxnSpPr>
          <p:nvPr/>
        </p:nvCxnSpPr>
        <p:spPr>
          <a:xfrm>
            <a:off x="3199546" y="2148815"/>
            <a:ext cx="159296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48902E4B-FC75-4695-90B2-F3C6A6F40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547" y="365125"/>
            <a:ext cx="10515600" cy="1325563"/>
          </a:xfrm>
        </p:spPr>
        <p:txBody>
          <a:bodyPr rtlCol="0"/>
          <a:lstStyle/>
          <a:p>
            <a:pPr rtl="0"/>
            <a:r>
              <a:rPr lang="pt-BR" dirty="0">
                <a:solidFill>
                  <a:schemeClr val="bg1"/>
                </a:solidFill>
              </a:rPr>
              <a:t>ERROS COMUNS AO MEDIR KPIs</a:t>
            </a:r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AEFA1E07-4A98-42A5-80C7-7135F4306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342" y="6174902"/>
            <a:ext cx="357116" cy="365125"/>
          </a:xfrm>
        </p:spPr>
        <p:txBody>
          <a:bodyPr rtlCol="0"/>
          <a:lstStyle/>
          <a:p>
            <a:pPr rtl="0"/>
            <a:fld id="{82EE24B5-652C-4DB5-B7C3-B5BBEC1280B1}" type="slidenum">
              <a:rPr lang="pt-BR" smtClean="0"/>
              <a:t>16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146418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C750891-B331-46E3-89A1-0996C3679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pt-BR" dirty="0"/>
              <a:t>CONCLUSÃO</a:t>
            </a:r>
            <a:br>
              <a:rPr lang="pt-BR" dirty="0"/>
            </a:br>
            <a:endParaRPr lang="pt-BR" dirty="0"/>
          </a:p>
        </p:txBody>
      </p:sp>
      <p:sp>
        <p:nvSpPr>
          <p:cNvPr id="2" name="Espaço Reservado para o Número do Slide 1">
            <a:extLst>
              <a:ext uri="{FF2B5EF4-FFF2-40B4-BE49-F238E27FC236}">
                <a16:creationId xmlns:a16="http://schemas.microsoft.com/office/drawing/2014/main" id="{6EC5A228-0BB3-460B-97CB-3667DC43D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pt-BR" smtClean="0"/>
              <a:t>17</a:t>
            </a:fld>
            <a:endParaRPr lang="pt-BR" dirty="0"/>
          </a:p>
        </p:txBody>
      </p:sp>
      <p:sp>
        <p:nvSpPr>
          <p:cNvPr id="6" name="objeto 18" descr="Retângulo bege">
            <a:extLst>
              <a:ext uri="{FF2B5EF4-FFF2-40B4-BE49-F238E27FC236}">
                <a16:creationId xmlns:a16="http://schemas.microsoft.com/office/drawing/2014/main" id="{31A1F953-41C3-4B9E-9EA3-26087E184E71}"/>
              </a:ext>
            </a:extLst>
          </p:cNvPr>
          <p:cNvSpPr/>
          <p:nvPr/>
        </p:nvSpPr>
        <p:spPr>
          <a:xfrm>
            <a:off x="953947" y="1157354"/>
            <a:ext cx="6152909" cy="45719"/>
          </a:xfrm>
          <a:custGeom>
            <a:avLst/>
            <a:gdLst/>
            <a:ahLst/>
            <a:cxnLst/>
            <a:rect l="l" t="t" r="r" b="b"/>
            <a:pathLst>
              <a:path w="3218815">
                <a:moveTo>
                  <a:pt x="0" y="0"/>
                </a:moveTo>
                <a:lnTo>
                  <a:pt x="3218395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pPr rtl="0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EF53737-09D9-45CC-B4A3-A90811C474D7}"/>
              </a:ext>
            </a:extLst>
          </p:cNvPr>
          <p:cNvSpPr txBox="1"/>
          <p:nvPr/>
        </p:nvSpPr>
        <p:spPr>
          <a:xfrm>
            <a:off x="953947" y="1840375"/>
            <a:ext cx="10399853" cy="2934137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227965" algn="ctr" rtl="0">
              <a:lnSpc>
                <a:spcPct val="100000"/>
              </a:lnSpc>
              <a:spcBef>
                <a:spcPts val="785"/>
              </a:spcBef>
            </a:pPr>
            <a:r>
              <a:rPr lang="pt-BR" sz="3200" dirty="0">
                <a:solidFill>
                  <a:schemeClr val="bg1"/>
                </a:solidFill>
              </a:rPr>
              <a:t>KPIs são bússolas para o RH moderno. Medir o que importa é essencial para tomar decisões melhores, engajar pessoas e gerar valor. Este e-book é um convite à ação: transforme dados em decisões e decisões em impacto.</a:t>
            </a:r>
          </a:p>
          <a:p>
            <a:pPr marL="227965" algn="just" rtl="0">
              <a:lnSpc>
                <a:spcPct val="100000"/>
              </a:lnSpc>
              <a:spcBef>
                <a:spcPts val="785"/>
              </a:spcBef>
            </a:pPr>
            <a:endParaRPr lang="pt-BR" sz="1800" b="1" dirty="0">
              <a:solidFill>
                <a:schemeClr val="bg2">
                  <a:lumMod val="20000"/>
                  <a:lumOff val="80000"/>
                </a:schemeClr>
              </a:solidFill>
              <a:latin typeface="+mn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057056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6" descr="Menina com documentos">
            <a:extLst>
              <a:ext uri="{FF2B5EF4-FFF2-40B4-BE49-F238E27FC236}">
                <a16:creationId xmlns:a16="http://schemas.microsoft.com/office/drawing/2014/main" id="{BD5BAEF8-04EE-4148-AB9D-25427A9268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" y="675"/>
            <a:ext cx="12189600" cy="6856650"/>
          </a:xfrm>
          <a:prstGeom prst="rect">
            <a:avLst/>
          </a:prstGeom>
        </p:spPr>
      </p:pic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D5537408-2125-4CE5-92A7-F7E0FCBA31D0}"/>
              </a:ext>
            </a:extLst>
          </p:cNvPr>
          <p:cNvSpPr txBox="1">
            <a:spLocks/>
          </p:cNvSpPr>
          <p:nvPr/>
        </p:nvSpPr>
        <p:spPr>
          <a:xfrm>
            <a:off x="-1" y="1341439"/>
            <a:ext cx="6348413" cy="4140200"/>
          </a:xfrm>
          <a:prstGeom prst="rect">
            <a:avLst/>
          </a:prstGeom>
          <a:solidFill>
            <a:schemeClr val="accent2"/>
          </a:solidFill>
        </p:spPr>
        <p:txBody>
          <a:bodyPr lIns="1548000" tIns="2160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Bef>
                <a:spcPts val="1100"/>
              </a:spcBef>
              <a:buFont typeface="Arial" panose="020B0604020202020204" pitchFamily="34" charset="0"/>
              <a:buNone/>
            </a:pPr>
            <a:r>
              <a:rPr lang="pt-BR" sz="2300" b="1" i="1" spc="70" dirty="0">
                <a:solidFill>
                  <a:schemeClr val="bg2">
                    <a:lumMod val="20000"/>
                    <a:lumOff val="80000"/>
                    <a:alpha val="75000"/>
                  </a:schemeClr>
                </a:solidFill>
                <a:cs typeface="Arial"/>
              </a:rPr>
              <a:t>Risoaldo Almeida</a:t>
            </a:r>
          </a:p>
          <a:p>
            <a:pPr marL="0" marR="5080" indent="0" rtl="0">
              <a:buFont typeface="Arial" panose="020B0604020202020204" pitchFamily="34" charset="0"/>
              <a:buNone/>
            </a:pPr>
            <a:r>
              <a:rPr lang="pt-BR" sz="2300" b="1" i="1" spc="70" dirty="0">
                <a:solidFill>
                  <a:schemeClr val="bg2">
                    <a:lumMod val="20000"/>
                    <a:lumOff val="80000"/>
                    <a:alpha val="75000"/>
                  </a:schemeClr>
                </a:solidFill>
                <a:cs typeface="Arial"/>
              </a:rPr>
              <a:t>risoaldoalmeida@hotmail.com</a:t>
            </a:r>
          </a:p>
          <a:p>
            <a:pPr marL="0" marR="5080" indent="0" rtl="0">
              <a:buFont typeface="Arial" panose="020B0604020202020204" pitchFamily="34" charset="0"/>
              <a:buNone/>
            </a:pPr>
            <a:r>
              <a:rPr lang="pt-BR" sz="2300" b="1" i="1" spc="45" dirty="0">
                <a:solidFill>
                  <a:schemeClr val="bg2">
                    <a:lumMod val="20000"/>
                    <a:lumOff val="80000"/>
                    <a:alpha val="75000"/>
                  </a:schemeClr>
                </a:solidFill>
                <a:cs typeface="Arial"/>
              </a:rPr>
              <a:t>18-99752-5743</a:t>
            </a:r>
            <a:endParaRPr lang="pt-BR" sz="2500" b="1" dirty="0">
              <a:solidFill>
                <a:schemeClr val="bg2">
                  <a:alpha val="50000"/>
                </a:schemeClr>
              </a:solidFill>
            </a:endParaRPr>
          </a:p>
        </p:txBody>
      </p:sp>
      <p:sp>
        <p:nvSpPr>
          <p:cNvPr id="6" name="objeto 6" descr="Retângulo bege">
            <a:extLst>
              <a:ext uri="{FF2B5EF4-FFF2-40B4-BE49-F238E27FC236}">
                <a16:creationId xmlns:a16="http://schemas.microsoft.com/office/drawing/2014/main" id="{B0C70F64-F3E5-413B-AF4F-E15CE944B761}"/>
              </a:ext>
            </a:extLst>
          </p:cNvPr>
          <p:cNvSpPr/>
          <p:nvPr/>
        </p:nvSpPr>
        <p:spPr>
          <a:xfrm>
            <a:off x="931203" y="2894900"/>
            <a:ext cx="3869397" cy="45719"/>
          </a:xfrm>
          <a:custGeom>
            <a:avLst/>
            <a:gdLst/>
            <a:ahLst/>
            <a:cxnLst/>
            <a:rect l="l" t="t" r="r" b="b"/>
            <a:pathLst>
              <a:path w="4206240">
                <a:moveTo>
                  <a:pt x="0" y="0"/>
                </a:moveTo>
                <a:lnTo>
                  <a:pt x="4206240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pPr rtl="0"/>
            <a:endParaRPr lang="pt-BR" dirty="0"/>
          </a:p>
        </p:txBody>
      </p:sp>
      <p:pic>
        <p:nvPicPr>
          <p:cNvPr id="8" name="Elemento Gráfico 7" descr="Ícone de pessoa">
            <a:extLst>
              <a:ext uri="{FF2B5EF4-FFF2-40B4-BE49-F238E27FC236}">
                <a16:creationId xmlns:a16="http://schemas.microsoft.com/office/drawing/2014/main" id="{AC7339AD-1A2B-4702-8C29-5CFB6D1BBB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5237" y="3470503"/>
            <a:ext cx="342900" cy="352425"/>
          </a:xfrm>
          <a:prstGeom prst="rect">
            <a:avLst/>
          </a:prstGeom>
        </p:spPr>
      </p:pic>
      <p:pic>
        <p:nvPicPr>
          <p:cNvPr id="9" name="Elemento gráfico 8" descr="Ícone de email">
            <a:extLst>
              <a:ext uri="{FF2B5EF4-FFF2-40B4-BE49-F238E27FC236}">
                <a16:creationId xmlns:a16="http://schemas.microsoft.com/office/drawing/2014/main" id="{DE19364B-D5B6-43E8-B6E4-DC0094FA3C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5237" y="3965704"/>
            <a:ext cx="342900" cy="342900"/>
          </a:xfrm>
          <a:prstGeom prst="rect">
            <a:avLst/>
          </a:prstGeom>
        </p:spPr>
      </p:pic>
      <p:pic>
        <p:nvPicPr>
          <p:cNvPr id="10" name="Elemento gráfico 9" descr="Ícone do telefone">
            <a:extLst>
              <a:ext uri="{FF2B5EF4-FFF2-40B4-BE49-F238E27FC236}">
                <a16:creationId xmlns:a16="http://schemas.microsoft.com/office/drawing/2014/main" id="{7821267F-71E4-4DA4-8BC7-EB091622077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5237" y="4451380"/>
            <a:ext cx="342900" cy="3429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BD43A5E-77DF-44FD-800D-158434A3A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1559"/>
            <a:ext cx="4859215" cy="1325563"/>
          </a:xfrm>
        </p:spPr>
        <p:txBody>
          <a:bodyPr rtlCol="0">
            <a:normAutofit/>
          </a:bodyPr>
          <a:lstStyle/>
          <a:p>
            <a:pPr rtl="0"/>
            <a:r>
              <a:rPr lang="pt-BR" sz="5000" dirty="0">
                <a:solidFill>
                  <a:schemeClr val="bg1"/>
                </a:solidFill>
              </a:rPr>
              <a:t>OBRIGADO!</a:t>
            </a:r>
            <a:endParaRPr lang="pt-BR" sz="5000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pt-BR" smtClean="0"/>
              <a:t>18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890696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Custom 30">
      <a:dk1>
        <a:sysClr val="windowText" lastClr="000000"/>
      </a:dk1>
      <a:lt1>
        <a:sysClr val="window" lastClr="FFFFFF"/>
      </a:lt1>
      <a:dk2>
        <a:srgbClr val="00292E"/>
      </a:dk2>
      <a:lt2>
        <a:srgbClr val="64B2C1"/>
      </a:lt2>
      <a:accent1>
        <a:srgbClr val="F0CDA1"/>
      </a:accent1>
      <a:accent2>
        <a:srgbClr val="107082"/>
      </a:accent2>
      <a:accent3>
        <a:srgbClr val="054854"/>
      </a:accent3>
      <a:accent4>
        <a:srgbClr val="00AEEF"/>
      </a:accent4>
      <a:accent5>
        <a:srgbClr val="F99927"/>
      </a:accent5>
      <a:accent6>
        <a:srgbClr val="EC7216"/>
      </a:accent6>
      <a:hlink>
        <a:srgbClr val="000000"/>
      </a:hlink>
      <a:folHlink>
        <a:srgbClr val="000000"/>
      </a:folHlink>
    </a:clrScheme>
    <a:fontScheme name="Custom 24">
      <a:majorFont>
        <a:latin typeface="Gill Sans MT"/>
        <a:ea typeface=""/>
        <a:cs typeface=""/>
      </a:majorFont>
      <a:minorFont>
        <a:latin typeface="Arial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35086941_TF45022061.potx" id="{F3DB256A-B81D-4A6B-B832-452DBB5F354D}" vid="{711D9367-F65C-492B-A7AA-3F6548781A6C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426FE2C-7640-4BF0-9D68-FDFD4151FD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2DDA16B-F3AC-4A5B-9F5F-6F5A8F47A9E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C118CE8-9293-4220-BA3B-5D353B13ABC9}">
  <ds:schemaRefs>
    <ds:schemaRef ds:uri="http://schemas.microsoft.com/office/infopath/2007/PartnerControls"/>
    <ds:schemaRef ds:uri="http://purl.org/dc/terms/"/>
    <ds:schemaRef ds:uri="http://purl.org/dc/dcmitype/"/>
    <ds:schemaRef ds:uri="71af3243-3dd4-4a8d-8c0d-dd76da1f02a5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16c05727-aa75-4e4a-9b5f-8a80a1165891"/>
    <ds:schemaRef ds:uri="http://schemas.openxmlformats.org/package/2006/metadata/core-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Plano de marketing para serviços profissionais</Template>
  <TotalTime>149</TotalTime>
  <Words>567</Words>
  <Application>Microsoft Office PowerPoint</Application>
  <PresentationFormat>Widescreen</PresentationFormat>
  <Paragraphs>119</Paragraphs>
  <Slides>18</Slides>
  <Notes>18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4" baseType="lpstr">
      <vt:lpstr>Arial</vt:lpstr>
      <vt:lpstr>Arial </vt:lpstr>
      <vt:lpstr>Calibri</vt:lpstr>
      <vt:lpstr>Gill Sans MT</vt:lpstr>
      <vt:lpstr>Lato</vt:lpstr>
      <vt:lpstr>Tema do Office</vt:lpstr>
      <vt:lpstr>KPIs para RH Gerando Insights Estratégicos</vt:lpstr>
      <vt:lpstr>APRESENTAÇÃO</vt:lpstr>
      <vt:lpstr>O QUE SÃO KPIs?</vt:lpstr>
      <vt:lpstr>KPIs Estratégicos vs Operacionais</vt:lpstr>
      <vt:lpstr>Recrutamento e seleção  Principais KPIs:</vt:lpstr>
      <vt:lpstr>ONBOARDING e INTEGRAÇÃO</vt:lpstr>
      <vt:lpstr>ENGAJAMENTO e Clima Organizacional</vt:lpstr>
      <vt:lpstr>Desenvolvimento e  Capacitação </vt:lpstr>
      <vt:lpstr>PRODUTIVIDADE e PERFORMANCE</vt:lpstr>
      <vt:lpstr>RETENÇÃO DE TALENTOS</vt:lpstr>
      <vt:lpstr>Absenteísmo e Presenteísmo </vt:lpstr>
      <vt:lpstr>Diversidade e Inclusão</vt:lpstr>
      <vt:lpstr>CULTURA ORGANIZACIONAL</vt:lpstr>
      <vt:lpstr>Como Escolher os KPIs Certos </vt:lpstr>
      <vt:lpstr>CHECKLIST PARA IMPLANTAÇÃO</vt:lpstr>
      <vt:lpstr>ERROS COMUNS AO MEDIR KPIs</vt:lpstr>
      <vt:lpstr>CONCLUSÃO </vt:lpstr>
      <vt:lpstr>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KPIs para RH Gerando Insights Estratégicos</dc:title>
  <dc:creator>Risoaldo Almeida</dc:creator>
  <cp:lastModifiedBy>Risoaldo Almeida</cp:lastModifiedBy>
  <cp:revision>11</cp:revision>
  <dcterms:created xsi:type="dcterms:W3CDTF">2025-10-27T16:56:57Z</dcterms:created>
  <dcterms:modified xsi:type="dcterms:W3CDTF">2025-10-27T19:26:23Z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